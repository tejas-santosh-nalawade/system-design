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262BDE-048F-422A-8D22-0CFCC54F572E}">
  <a:tblStyle styleId="{42262BDE-048F-422A-8D22-0CFCC54F57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2fd3044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2fd3044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fd3044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2fd3044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fd3044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2fd3044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2fd30444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2fd30444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fd30444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fd30444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2fd30444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2fd30444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fd30444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2fd30444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fd30444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2fd30444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2fd30444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2fd30444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fd30444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2fd30444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fd30444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2fd30444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2fd30444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2fd30444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2fd30444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2fd30444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2fd30444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2fd30444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2fd30444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2fd30444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2fd30444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2fd30444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2fd30444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2fd30444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fd30444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2fd30444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fd30444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2fd30444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2fd30444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2fd30444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2fd30444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2fd30444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2fd30444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2fd30444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2fd30444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2fd30444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2fd304446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2fd304446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2fd304446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2fd304446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2fd304446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f2fd30444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2fd304446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2fd304446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2fd304446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2fd304446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2fd304446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2fd304446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2fd304446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2fd304446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2fd304446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2fd304446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2fd304446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f2fd304446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2fd304446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2fd304446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2fd304446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f2fd304446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2fd304446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f2fd304446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2fd304446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f2fd304446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2fd304446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f2fd304446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2fd304446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f2fd304446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2fd304446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f2fd304446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2fd304446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2fd304446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2fd304446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f2fd304446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2fd304446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2fd304446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2fd304446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f2fd304446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f2fd304446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f2fd304446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f2fd304446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f2fd304446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f2fd304446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f2fd304446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f2fd304446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f2fd304446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f2fd304446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f2fd304446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f2fd304446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f2fd304446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2fd304446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f2fd304446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2fd304446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f2fd304446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2fd304446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f2fd304446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f2fd304446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f2fd304446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f2fd304446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f2fd304446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2fd304446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f2fd304446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f2fd304446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f2fd304446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f2fd304446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f2fd304446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f2fd304446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f2fd304446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f2fd304446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f2fd304446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f2fd304446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f2fd304446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f2fd304446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f2fd304446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2fd304446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f2fd304446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f2fd304446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f2fd304446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f2fd304446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f2fd304446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f2fd304446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f2fd304446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f2fd304446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f2fd304446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f2fd304446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f2fd304446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f2fd304446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f2fd304446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2fd304446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f2fd304446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f2fd304446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f2fd304446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f2fd304446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f2fd304446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h3496c1e690813c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h3496c1e690813c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2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10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9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23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1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4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3.png"/><Relationship Id="rId4" Type="http://schemas.openxmlformats.org/officeDocument/2006/relationships/image" Target="../media/image4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4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45.png"/><Relationship Id="rId7" Type="http://schemas.openxmlformats.org/officeDocument/2006/relationships/image" Target="../media/image3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Live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1 - Foundational Ideas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understand all this with an example site.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212" y="1115050"/>
            <a:ext cx="5025574" cy="3619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this is not just an dummy … 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825" y="2317525"/>
            <a:ext cx="4905475" cy="27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350" y="1847647"/>
            <a:ext cx="5989724" cy="16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550" y="902975"/>
            <a:ext cx="18288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(React)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50" y="1017725"/>
            <a:ext cx="5856748" cy="39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2803" y="180475"/>
            <a:ext cx="4532649" cy="278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8575" y="1794050"/>
            <a:ext cx="3695074" cy="3246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(Express)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00" y="1492075"/>
            <a:ext cx="4419826" cy="273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349" y="377025"/>
            <a:ext cx="5122351" cy="458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1400" y="26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+ Docker (MongoDB)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00" y="1017725"/>
            <a:ext cx="4350669" cy="39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026" y="175650"/>
            <a:ext cx="4188849" cy="4792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5266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Anyone who learns Development can build this and make it work on their PC.</a:t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1724525" y="2205775"/>
            <a:ext cx="2005200" cy="245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(DEV)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4520875" y="2107075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HTTP/HTTPS basics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Client–server architecture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 APIs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Databases (SQL/NoSQL)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Authentication &amp; authorization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&amp; version control</a:t>
            </a:r>
            <a:endParaRPr/>
          </a:p>
        </p:txBody>
      </p:sp>
      <p:cxnSp>
        <p:nvCxnSpPr>
          <p:cNvPr id="99" name="Google Shape;99;p19"/>
          <p:cNvCxnSpPr>
            <a:stCxn id="97" idx="3"/>
          </p:cNvCxnSpPr>
          <p:nvPr/>
        </p:nvCxnSpPr>
        <p:spPr>
          <a:xfrm>
            <a:off x="3729725" y="3433975"/>
            <a:ext cx="57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98" y="87050"/>
            <a:ext cx="6746501" cy="277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/>
          <p:nvPr/>
        </p:nvSpPr>
        <p:spPr>
          <a:xfrm>
            <a:off x="581525" y="2571750"/>
            <a:ext cx="2005200" cy="245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(DEV)</a:t>
            </a:r>
            <a:endParaRPr/>
          </a:p>
        </p:txBody>
      </p:sp>
      <p:cxnSp>
        <p:nvCxnSpPr>
          <p:cNvPr id="106" name="Google Shape;106;p20"/>
          <p:cNvCxnSpPr>
            <a:stCxn id="105" idx="3"/>
            <a:endCxn id="107" idx="1"/>
          </p:cNvCxnSpPr>
          <p:nvPr/>
        </p:nvCxnSpPr>
        <p:spPr>
          <a:xfrm>
            <a:off x="2586725" y="3799950"/>
            <a:ext cx="237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20"/>
          <p:cNvSpPr/>
          <p:nvPr/>
        </p:nvSpPr>
        <p:spPr>
          <a:xfrm>
            <a:off x="4962975" y="2571750"/>
            <a:ext cx="2005200" cy="245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Junior Engineer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(DEV + CLOUD)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7118700" y="1948300"/>
            <a:ext cx="1925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of one Cloud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&amp; logging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&amp; hosting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variables &amp; configuration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(unit/integration)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this is not what gives you an edge…</a:t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872300" y="1699450"/>
            <a:ext cx="2005200" cy="245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(DEV)</a:t>
            </a:r>
            <a:endParaRPr/>
          </a:p>
        </p:txBody>
      </p:sp>
      <p:cxnSp>
        <p:nvCxnSpPr>
          <p:cNvPr id="115" name="Google Shape;115;p21"/>
          <p:cNvCxnSpPr>
            <a:stCxn id="114" idx="3"/>
            <a:endCxn id="116" idx="1"/>
          </p:cNvCxnSpPr>
          <p:nvPr/>
        </p:nvCxnSpPr>
        <p:spPr>
          <a:xfrm>
            <a:off x="2877500" y="2927650"/>
            <a:ext cx="66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21"/>
          <p:cNvSpPr/>
          <p:nvPr/>
        </p:nvSpPr>
        <p:spPr>
          <a:xfrm>
            <a:off x="3539250" y="1699450"/>
            <a:ext cx="2005200" cy="245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Junior Engineer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(DEV + CLOUD)</a:t>
            </a:r>
            <a:endParaRPr/>
          </a:p>
        </p:txBody>
      </p:sp>
      <p:cxnSp>
        <p:nvCxnSpPr>
          <p:cNvPr id="117" name="Google Shape;117;p21"/>
          <p:cNvCxnSpPr>
            <a:stCxn id="116" idx="3"/>
          </p:cNvCxnSpPr>
          <p:nvPr/>
        </p:nvCxnSpPr>
        <p:spPr>
          <a:xfrm>
            <a:off x="5544450" y="2927650"/>
            <a:ext cx="63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21"/>
          <p:cNvSpPr/>
          <p:nvPr/>
        </p:nvSpPr>
        <p:spPr>
          <a:xfrm>
            <a:off x="6176250" y="1699450"/>
            <a:ext cx="2005200" cy="245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Mid-Level/Senior Engineer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(DEV + CLOUD + ??????)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50" y="297750"/>
            <a:ext cx="3269075" cy="2354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72475" y="321042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22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2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2"/>
          <p:cNvCxnSpPr/>
          <p:nvPr/>
        </p:nvCxnSpPr>
        <p:spPr>
          <a:xfrm flipH="1">
            <a:off x="51436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2"/>
          <p:cNvCxnSpPr/>
          <p:nvPr/>
        </p:nvCxnSpPr>
        <p:spPr>
          <a:xfrm flipH="1">
            <a:off x="22008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2"/>
          <p:cNvSpPr txBox="1"/>
          <p:nvPr/>
        </p:nvSpPr>
        <p:spPr>
          <a:xfrm>
            <a:off x="7088525" y="2732781"/>
            <a:ext cx="19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counter =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207725" y="3114138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4322900" y="421300"/>
            <a:ext cx="464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Junior Engineer sees the data flow.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API Call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Query to DB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It returns the count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Sends back to Frontend to Show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2475" y="321042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3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3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3"/>
          <p:cNvCxnSpPr/>
          <p:nvPr/>
        </p:nvCxnSpPr>
        <p:spPr>
          <a:xfrm flipH="1">
            <a:off x="51436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3"/>
          <p:cNvCxnSpPr/>
          <p:nvPr/>
        </p:nvCxnSpPr>
        <p:spPr>
          <a:xfrm flipH="1">
            <a:off x="22008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3"/>
          <p:cNvSpPr txBox="1"/>
          <p:nvPr/>
        </p:nvSpPr>
        <p:spPr>
          <a:xfrm>
            <a:off x="7088525" y="2729375"/>
            <a:ext cx="19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counter =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5207725" y="3114138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4304600" y="347400"/>
            <a:ext cx="464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Senior Engineer sees </a:t>
            </a:r>
            <a:r>
              <a:rPr b="1" lang="en" sz="1800">
                <a:solidFill>
                  <a:srgbClr val="FF0000"/>
                </a:solidFill>
              </a:rPr>
              <a:t>potential issues.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What if too many users use it simultaneously.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What if the server crashes?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What is the limit of Database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Connection issues… and many more.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550" y="297750"/>
            <a:ext cx="3269075" cy="2354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Senior Engineer asks the </a:t>
            </a:r>
            <a:r>
              <a:rPr b="1" lang="en">
                <a:solidFill>
                  <a:srgbClr val="FF0000"/>
                </a:solidFill>
              </a:rPr>
              <a:t>right questions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152475"/>
            <a:ext cx="560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“If 1 million users call GET /counter, what happens?”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“If 100 users call it at the exact same time?”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“If DB is slow or down?”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“Is counter=2 always correct?”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75" y="38149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8825" y="38149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6975" y="3814900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4"/>
          <p:cNvCxnSpPr/>
          <p:nvPr/>
        </p:nvCxnSpPr>
        <p:spPr>
          <a:xfrm>
            <a:off x="1770125" y="4073575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4"/>
          <p:cNvCxnSpPr/>
          <p:nvPr/>
        </p:nvCxnSpPr>
        <p:spPr>
          <a:xfrm>
            <a:off x="4717875" y="4053525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4"/>
          <p:cNvCxnSpPr/>
          <p:nvPr/>
        </p:nvCxnSpPr>
        <p:spPr>
          <a:xfrm flipH="1">
            <a:off x="4768125" y="448465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4"/>
          <p:cNvCxnSpPr/>
          <p:nvPr/>
        </p:nvCxnSpPr>
        <p:spPr>
          <a:xfrm flipH="1">
            <a:off x="1825325" y="448465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24"/>
          <p:cNvSpPr txBox="1"/>
          <p:nvPr/>
        </p:nvSpPr>
        <p:spPr>
          <a:xfrm>
            <a:off x="6713025" y="3333850"/>
            <a:ext cx="19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counter =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1999325" y="3664763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4832225" y="3718613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5669100" y="1817900"/>
            <a:ext cx="316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</a:rPr>
              <a:t>What does the product needs??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solve, framing </a:t>
            </a:r>
            <a:r>
              <a:rPr b="1" lang="en"/>
              <a:t>Requirement</a:t>
            </a:r>
            <a:r>
              <a:rPr lang="en"/>
              <a:t> is Critical!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296775"/>
            <a:ext cx="8520600" cy="32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requirement is a statement that defines: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the system must do (behavior), and/or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well it must do it (quality constraints), and/or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Under what conditions (scale, failures, security, compliance).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Bad: “It should be fast”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Good: “p95 latency &lt; 200ms at 5k QPS”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types of requirements [interview view]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 (FR)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GET /counter returns current counter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POST /increment increments counter by 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some other cases 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... “User can upload PDFs”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... “Search returns top 10 results”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types of requirements [interview view]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277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B) Non-Functional Requirements (NFR)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Quality attributes: how good the system must be.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… and this is where seniority starts showing up.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4572000" y="1173625"/>
            <a:ext cx="33969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Performance (Latency)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Throughput (Capacity / QPS)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Scalability (Growth handling)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Availability (Uptime)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Reliability (Correctness under failures)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Consistency (Strong vs Eventual)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Durability (No data loss)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Security (Auth + Abuse protection)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Observability (Logs, Metrics, Tracing)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Maintainability / Operability (Safe changes &amp; deployment)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(Latency)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Meaning: How fast responses 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Requirement: </a:t>
            </a:r>
            <a:r>
              <a:rPr b="1" lang="en"/>
              <a:t>GET /counter</a:t>
            </a:r>
            <a:r>
              <a:rPr lang="en"/>
              <a:t> p95 &lt; 100ms, </a:t>
            </a:r>
            <a:r>
              <a:rPr b="1" lang="en"/>
              <a:t>POST /increment</a:t>
            </a:r>
            <a:r>
              <a:rPr lang="en"/>
              <a:t> p95 &lt; 150ms</a:t>
            </a:r>
            <a:endParaRPr/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277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3485300"/>
            <a:ext cx="85206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Meaning: Ability to grow smoothly as users/traffic grows.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Problem: POST /increment hits the same DB row → hotspot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 (QPS / Capacity)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152475"/>
            <a:ext cx="85206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Meaning: How many requests per second you can handle.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Requirement: Support 10k QPS GET + 2k QPS increment</a:t>
            </a:r>
            <a:endParaRPr/>
          </a:p>
        </p:txBody>
      </p:sp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277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(Correctness under faults)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311700" y="3485300"/>
            <a:ext cx="85206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Meaning: Works correctly even when things fail (timeouts, retries).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Risk: Client retries POST /increment → double increment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6885550" y="4497875"/>
            <a:ext cx="31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and many more 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might feel overwhelming, but …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People have created great pieces of software/hardware solutions to solve a lot of these requirements …  But you need to know how to use them.</a:t>
            </a: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8" y="2157500"/>
            <a:ext cx="9008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only have to know a few to solve almost 95%+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And let’s start from basics … One computer first…</a:t>
            </a:r>
            <a:endParaRPr/>
          </a:p>
        </p:txBody>
      </p:sp>
      <p:pic>
        <p:nvPicPr>
          <p:cNvPr descr="System plate for pc isometric illustration with semiconductor elements slots microchips capacitors diodes transistors"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75" y="1968475"/>
            <a:ext cx="3841674" cy="2381100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18" name="Google Shape;21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802">
            <a:off x="4536650" y="2498549"/>
            <a:ext cx="1843322" cy="1843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4525" y="3007100"/>
            <a:ext cx="1947775" cy="19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8349" y="1374674"/>
            <a:ext cx="2267875" cy="17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Whenever we write a code and compile … </a:t>
            </a:r>
            <a:endParaRPr/>
          </a:p>
        </p:txBody>
      </p:sp>
      <p:grpSp>
        <p:nvGrpSpPr>
          <p:cNvPr id="226" name="Google Shape;226;p32"/>
          <p:cNvGrpSpPr/>
          <p:nvPr/>
        </p:nvGrpSpPr>
        <p:grpSpPr>
          <a:xfrm>
            <a:off x="452150" y="1940625"/>
            <a:ext cx="1243500" cy="1970100"/>
            <a:chOff x="460250" y="1699375"/>
            <a:chExt cx="1243500" cy="1970100"/>
          </a:xfrm>
        </p:grpSpPr>
        <p:grpSp>
          <p:nvGrpSpPr>
            <p:cNvPr id="227" name="Google Shape;227;p32"/>
            <p:cNvGrpSpPr/>
            <p:nvPr/>
          </p:nvGrpSpPr>
          <p:grpSpPr>
            <a:xfrm>
              <a:off x="460250" y="1699375"/>
              <a:ext cx="1243500" cy="1970100"/>
              <a:chOff x="847850" y="1610550"/>
              <a:chExt cx="1243500" cy="1970100"/>
            </a:xfrm>
          </p:grpSpPr>
          <p:pic>
            <p:nvPicPr>
              <p:cNvPr id="228" name="Google Shape;228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21826" r="0" t="0"/>
              <a:stretch/>
            </p:blipFill>
            <p:spPr>
              <a:xfrm>
                <a:off x="868875" y="2218425"/>
                <a:ext cx="1218600" cy="1071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32"/>
              <p:cNvSpPr/>
              <p:nvPr/>
            </p:nvSpPr>
            <p:spPr>
              <a:xfrm>
                <a:off x="847850" y="1610550"/>
                <a:ext cx="1243500" cy="19701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0" name="Google Shape;230;p32"/>
            <p:cNvSpPr txBox="1"/>
            <p:nvPr/>
          </p:nvSpPr>
          <p:spPr>
            <a:xfrm>
              <a:off x="742900" y="1739750"/>
              <a:ext cx="637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test.c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31" name="Google Shape;231;p32"/>
          <p:cNvGrpSpPr/>
          <p:nvPr/>
        </p:nvGrpSpPr>
        <p:grpSpPr>
          <a:xfrm>
            <a:off x="4166975" y="1261875"/>
            <a:ext cx="4324000" cy="3327600"/>
            <a:chOff x="4037775" y="1189675"/>
            <a:chExt cx="4324000" cy="3327600"/>
          </a:xfrm>
        </p:grpSpPr>
        <p:pic>
          <p:nvPicPr>
            <p:cNvPr id="232" name="Google Shape;232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37775" y="1699374"/>
              <a:ext cx="4324000" cy="2326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32"/>
            <p:cNvSpPr/>
            <p:nvPr/>
          </p:nvSpPr>
          <p:spPr>
            <a:xfrm>
              <a:off x="4037775" y="1189675"/>
              <a:ext cx="4323900" cy="3327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0096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2"/>
            <p:cNvSpPr txBox="1"/>
            <p:nvPr/>
          </p:nvSpPr>
          <p:spPr>
            <a:xfrm>
              <a:off x="5983300" y="1247200"/>
              <a:ext cx="73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test.s</a:t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235" name="Google Shape;235;p32"/>
          <p:cNvCxnSpPr>
            <a:stCxn id="229" idx="3"/>
            <a:endCxn id="233" idx="1"/>
          </p:cNvCxnSpPr>
          <p:nvPr/>
        </p:nvCxnSpPr>
        <p:spPr>
          <a:xfrm>
            <a:off x="1695650" y="2925675"/>
            <a:ext cx="2471400" cy="0"/>
          </a:xfrm>
          <a:prstGeom prst="straightConnector1">
            <a:avLst/>
          </a:prstGeom>
          <a:noFill/>
          <a:ln cap="flat" cmpd="sng" w="9525">
            <a:solidFill>
              <a:srgbClr val="ADADA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2"/>
          <p:cNvSpPr txBox="1"/>
          <p:nvPr/>
        </p:nvSpPr>
        <p:spPr>
          <a:xfrm>
            <a:off x="1841050" y="2617875"/>
            <a:ext cx="196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Compile step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gcc -S -o test.s test.c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805" y="1859354"/>
            <a:ext cx="2617950" cy="1626575"/>
          </a:xfrm>
          <a:prstGeom prst="rect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2" name="Google Shape;24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814">
            <a:off x="5488259" y="2521957"/>
            <a:ext cx="727013" cy="727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33"/>
          <p:cNvCxnSpPr>
            <a:stCxn id="244" idx="3"/>
            <a:endCxn id="241" idx="1"/>
          </p:cNvCxnSpPr>
          <p:nvPr/>
        </p:nvCxnSpPr>
        <p:spPr>
          <a:xfrm>
            <a:off x="4437885" y="2672639"/>
            <a:ext cx="1603800" cy="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45" name="Google Shape;245;p33"/>
          <p:cNvGrpSpPr/>
          <p:nvPr/>
        </p:nvGrpSpPr>
        <p:grpSpPr>
          <a:xfrm>
            <a:off x="199065" y="1795318"/>
            <a:ext cx="4238872" cy="1754643"/>
            <a:chOff x="452150" y="1261875"/>
            <a:chExt cx="8038825" cy="3327600"/>
          </a:xfrm>
        </p:grpSpPr>
        <p:grpSp>
          <p:nvGrpSpPr>
            <p:cNvPr id="246" name="Google Shape;246;p33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247" name="Google Shape;247;p33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248" name="Google Shape;248;p3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9" name="Google Shape;249;p33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0" name="Google Shape;250;p33"/>
              <p:cNvSpPr txBox="1"/>
              <p:nvPr/>
            </p:nvSpPr>
            <p:spPr>
              <a:xfrm>
                <a:off x="742900" y="1739750"/>
                <a:ext cx="637800" cy="49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51" name="Google Shape;251;p33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252" name="Google Shape;252;p3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33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33"/>
              <p:cNvSpPr txBox="1"/>
              <p:nvPr/>
            </p:nvSpPr>
            <p:spPr>
              <a:xfrm>
                <a:off x="5983300" y="1247200"/>
                <a:ext cx="734700" cy="52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254" name="Google Shape;254;p33"/>
            <p:cNvCxnSpPr>
              <a:stCxn id="249" idx="3"/>
              <a:endCxn id="244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5" name="Google Shape;255;p33"/>
            <p:cNvSpPr txBox="1"/>
            <p:nvPr/>
          </p:nvSpPr>
          <p:spPr>
            <a:xfrm>
              <a:off x="1841050" y="2617875"/>
              <a:ext cx="1962000" cy="6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sp>
        <p:nvSpPr>
          <p:cNvPr id="256" name="Google Shape;25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we run the code … It runs in the CPU…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311700" y="445025"/>
            <a:ext cx="86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world is complex… Multiple Codes Running…</a:t>
            </a:r>
            <a:endParaRPr/>
          </a:p>
        </p:txBody>
      </p:sp>
      <p:pic>
        <p:nvPicPr>
          <p:cNvPr id="262" name="Google Shape;2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4425" y="1916734"/>
            <a:ext cx="2617950" cy="1626575"/>
          </a:xfrm>
          <a:prstGeom prst="rect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3" name="Google Shape;26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814">
            <a:off x="5430880" y="2579336"/>
            <a:ext cx="727013" cy="727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34"/>
          <p:cNvGrpSpPr/>
          <p:nvPr/>
        </p:nvGrpSpPr>
        <p:grpSpPr>
          <a:xfrm>
            <a:off x="150540" y="1195403"/>
            <a:ext cx="2917289" cy="1207586"/>
            <a:chOff x="452150" y="1261875"/>
            <a:chExt cx="8038825" cy="3327600"/>
          </a:xfrm>
        </p:grpSpPr>
        <p:grpSp>
          <p:nvGrpSpPr>
            <p:cNvPr id="265" name="Google Shape;265;p34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266" name="Google Shape;266;p34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267" name="Google Shape;267;p3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8" name="Google Shape;268;p34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9" name="Google Shape;269;p34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70" name="Google Shape;270;p34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271" name="Google Shape;271;p3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34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34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274" name="Google Shape;274;p34"/>
            <p:cNvCxnSpPr>
              <a:stCxn id="268" idx="3"/>
              <a:endCxn id="272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5" name="Google Shape;275;p34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276" name="Google Shape;276;p34"/>
          <p:cNvGrpSpPr/>
          <p:nvPr/>
        </p:nvGrpSpPr>
        <p:grpSpPr>
          <a:xfrm>
            <a:off x="150540" y="2475028"/>
            <a:ext cx="2917289" cy="1207586"/>
            <a:chOff x="452150" y="1261875"/>
            <a:chExt cx="8038825" cy="3327600"/>
          </a:xfrm>
        </p:grpSpPr>
        <p:grpSp>
          <p:nvGrpSpPr>
            <p:cNvPr id="277" name="Google Shape;277;p34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278" name="Google Shape;278;p34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279" name="Google Shape;279;p3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0" name="Google Shape;280;p34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1" name="Google Shape;281;p34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82" name="Google Shape;282;p34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283" name="Google Shape;283;p3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4" name="Google Shape;284;p34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34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286" name="Google Shape;286;p34"/>
            <p:cNvCxnSpPr>
              <a:stCxn id="280" idx="3"/>
              <a:endCxn id="284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7" name="Google Shape;287;p34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288" name="Google Shape;288;p34"/>
          <p:cNvGrpSpPr/>
          <p:nvPr/>
        </p:nvGrpSpPr>
        <p:grpSpPr>
          <a:xfrm>
            <a:off x="150540" y="3824465"/>
            <a:ext cx="2917289" cy="1207586"/>
            <a:chOff x="452150" y="1261875"/>
            <a:chExt cx="8038825" cy="3327600"/>
          </a:xfrm>
        </p:grpSpPr>
        <p:grpSp>
          <p:nvGrpSpPr>
            <p:cNvPr id="289" name="Google Shape;289;p34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290" name="Google Shape;290;p34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291" name="Google Shape;291;p3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2" name="Google Shape;292;p34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3" name="Google Shape;293;p34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94" name="Google Shape;294;p34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295" name="Google Shape;295;p3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" name="Google Shape;296;p34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34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298" name="Google Shape;298;p34"/>
            <p:cNvCxnSpPr>
              <a:stCxn id="292" idx="3"/>
              <a:endCxn id="296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9" name="Google Shape;299;p34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cxnSp>
        <p:nvCxnSpPr>
          <p:cNvPr id="300" name="Google Shape;300;p34"/>
          <p:cNvCxnSpPr>
            <a:endCxn id="263" idx="0"/>
          </p:cNvCxnSpPr>
          <p:nvPr/>
        </p:nvCxnSpPr>
        <p:spPr>
          <a:xfrm>
            <a:off x="3067801" y="1810195"/>
            <a:ext cx="2763300" cy="7710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4"/>
          <p:cNvCxnSpPr>
            <a:stCxn id="284" idx="3"/>
            <a:endCxn id="263" idx="1"/>
          </p:cNvCxnSpPr>
          <p:nvPr/>
        </p:nvCxnSpPr>
        <p:spPr>
          <a:xfrm flipH="1" rot="10800000">
            <a:off x="3067793" y="2906021"/>
            <a:ext cx="2364900" cy="1728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34"/>
          <p:cNvCxnSpPr>
            <a:stCxn id="296" idx="3"/>
            <a:endCxn id="263" idx="2"/>
          </p:cNvCxnSpPr>
          <p:nvPr/>
        </p:nvCxnSpPr>
        <p:spPr>
          <a:xfrm flipH="1" rot="10800000">
            <a:off x="3067793" y="3304458"/>
            <a:ext cx="2689800" cy="11238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 txBox="1"/>
          <p:nvPr>
            <p:ph type="title"/>
          </p:nvPr>
        </p:nvSpPr>
        <p:spPr>
          <a:xfrm>
            <a:off x="311700" y="445025"/>
            <a:ext cx="86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needs to be done in a fair manner…</a:t>
            </a:r>
            <a:endParaRPr/>
          </a:p>
        </p:txBody>
      </p:sp>
      <p:pic>
        <p:nvPicPr>
          <p:cNvPr id="308" name="Google Shape;3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500" y="3034134"/>
            <a:ext cx="2617950" cy="1626575"/>
          </a:xfrm>
          <a:prstGeom prst="rect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9" name="Google Shape;3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814">
            <a:off x="7062580" y="2419749"/>
            <a:ext cx="727013" cy="727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35"/>
          <p:cNvGrpSpPr/>
          <p:nvPr/>
        </p:nvGrpSpPr>
        <p:grpSpPr>
          <a:xfrm>
            <a:off x="150540" y="1195403"/>
            <a:ext cx="2917289" cy="1207586"/>
            <a:chOff x="452150" y="1261875"/>
            <a:chExt cx="8038825" cy="3327600"/>
          </a:xfrm>
        </p:grpSpPr>
        <p:grpSp>
          <p:nvGrpSpPr>
            <p:cNvPr id="311" name="Google Shape;311;p35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312" name="Google Shape;312;p35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313" name="Google Shape;313;p3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14" name="Google Shape;314;p35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5" name="Google Shape;315;p35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16" name="Google Shape;316;p35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317" name="Google Shape;317;p3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" name="Google Shape;318;p35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35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320" name="Google Shape;320;p35"/>
            <p:cNvCxnSpPr>
              <a:stCxn id="314" idx="3"/>
              <a:endCxn id="318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1" name="Google Shape;321;p35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322" name="Google Shape;322;p35"/>
          <p:cNvGrpSpPr/>
          <p:nvPr/>
        </p:nvGrpSpPr>
        <p:grpSpPr>
          <a:xfrm>
            <a:off x="150540" y="2475028"/>
            <a:ext cx="2917289" cy="1207586"/>
            <a:chOff x="452150" y="1261875"/>
            <a:chExt cx="8038825" cy="3327600"/>
          </a:xfrm>
        </p:grpSpPr>
        <p:grpSp>
          <p:nvGrpSpPr>
            <p:cNvPr id="323" name="Google Shape;323;p35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324" name="Google Shape;324;p35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325" name="Google Shape;325;p3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6" name="Google Shape;326;p35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7" name="Google Shape;327;p35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28" name="Google Shape;328;p35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329" name="Google Shape;329;p3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0" name="Google Shape;330;p35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5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332" name="Google Shape;332;p35"/>
            <p:cNvCxnSpPr>
              <a:stCxn id="326" idx="3"/>
              <a:endCxn id="330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3" name="Google Shape;333;p35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334" name="Google Shape;334;p35"/>
          <p:cNvGrpSpPr/>
          <p:nvPr/>
        </p:nvGrpSpPr>
        <p:grpSpPr>
          <a:xfrm>
            <a:off x="150540" y="3824465"/>
            <a:ext cx="2917289" cy="1207586"/>
            <a:chOff x="452150" y="1261875"/>
            <a:chExt cx="8038825" cy="3327600"/>
          </a:xfrm>
        </p:grpSpPr>
        <p:grpSp>
          <p:nvGrpSpPr>
            <p:cNvPr id="335" name="Google Shape;335;p35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336" name="Google Shape;336;p35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337" name="Google Shape;337;p3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38" name="Google Shape;338;p35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39" name="Google Shape;339;p35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40" name="Google Shape;340;p35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341" name="Google Shape;341;p3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2" name="Google Shape;342;p35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5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344" name="Google Shape;344;p35"/>
            <p:cNvCxnSpPr>
              <a:stCxn id="338" idx="3"/>
              <a:endCxn id="342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5" name="Google Shape;345;p35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cxnSp>
        <p:nvCxnSpPr>
          <p:cNvPr id="346" name="Google Shape;346;p35"/>
          <p:cNvCxnSpPr/>
          <p:nvPr/>
        </p:nvCxnSpPr>
        <p:spPr>
          <a:xfrm flipH="1" rot="10800000">
            <a:off x="3067801" y="1437595"/>
            <a:ext cx="2199900" cy="3726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35"/>
          <p:cNvCxnSpPr>
            <a:stCxn id="330" idx="3"/>
            <a:endCxn id="348" idx="1"/>
          </p:cNvCxnSpPr>
          <p:nvPr/>
        </p:nvCxnSpPr>
        <p:spPr>
          <a:xfrm flipH="1" rot="10800000">
            <a:off x="3067793" y="1781021"/>
            <a:ext cx="2049000" cy="12978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5"/>
          <p:cNvCxnSpPr>
            <a:stCxn id="342" idx="3"/>
          </p:cNvCxnSpPr>
          <p:nvPr/>
        </p:nvCxnSpPr>
        <p:spPr>
          <a:xfrm flipH="1" rot="10800000">
            <a:off x="3067793" y="2040558"/>
            <a:ext cx="2093400" cy="23877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48" name="Google Shape;348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6800" y="1177298"/>
            <a:ext cx="1847194" cy="1207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35"/>
          <p:cNvCxnSpPr/>
          <p:nvPr/>
        </p:nvCxnSpPr>
        <p:spPr>
          <a:xfrm>
            <a:off x="6722075" y="2333200"/>
            <a:ext cx="452400" cy="6741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type="title"/>
          </p:nvPr>
        </p:nvSpPr>
        <p:spPr>
          <a:xfrm>
            <a:off x="311700" y="445025"/>
            <a:ext cx="86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needs access to other Hardwares</a:t>
            </a:r>
            <a:endParaRPr/>
          </a:p>
        </p:txBody>
      </p:sp>
      <p:pic>
        <p:nvPicPr>
          <p:cNvPr id="356" name="Google Shape;3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575" y="1053834"/>
            <a:ext cx="2617950" cy="1626575"/>
          </a:xfrm>
          <a:prstGeom prst="rect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7" name="Google Shape;3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814">
            <a:off x="5422030" y="1716436"/>
            <a:ext cx="727013" cy="727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36"/>
          <p:cNvGrpSpPr/>
          <p:nvPr/>
        </p:nvGrpSpPr>
        <p:grpSpPr>
          <a:xfrm>
            <a:off x="150540" y="1195403"/>
            <a:ext cx="2917289" cy="1207586"/>
            <a:chOff x="452150" y="1261875"/>
            <a:chExt cx="8038825" cy="3327600"/>
          </a:xfrm>
        </p:grpSpPr>
        <p:grpSp>
          <p:nvGrpSpPr>
            <p:cNvPr id="359" name="Google Shape;359;p36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360" name="Google Shape;360;p36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361" name="Google Shape;361;p3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2" name="Google Shape;362;p36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63" name="Google Shape;363;p36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64" name="Google Shape;364;p36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365" name="Google Shape;365;p3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6" name="Google Shape;366;p36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6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368" name="Google Shape;368;p36"/>
            <p:cNvCxnSpPr>
              <a:stCxn id="362" idx="3"/>
              <a:endCxn id="366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9" name="Google Shape;369;p36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370" name="Google Shape;370;p36"/>
          <p:cNvGrpSpPr/>
          <p:nvPr/>
        </p:nvGrpSpPr>
        <p:grpSpPr>
          <a:xfrm>
            <a:off x="150540" y="2475028"/>
            <a:ext cx="2917289" cy="1207586"/>
            <a:chOff x="452150" y="1261875"/>
            <a:chExt cx="8038825" cy="3327600"/>
          </a:xfrm>
        </p:grpSpPr>
        <p:grpSp>
          <p:nvGrpSpPr>
            <p:cNvPr id="371" name="Google Shape;371;p36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74" name="Google Shape;374;p36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75" name="Google Shape;375;p36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76" name="Google Shape;376;p36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377" name="Google Shape;377;p3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8" name="Google Shape;378;p36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6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380" name="Google Shape;380;p36"/>
            <p:cNvCxnSpPr>
              <a:stCxn id="374" idx="3"/>
              <a:endCxn id="378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81" name="Google Shape;381;p36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382" name="Google Shape;382;p36"/>
          <p:cNvGrpSpPr/>
          <p:nvPr/>
        </p:nvGrpSpPr>
        <p:grpSpPr>
          <a:xfrm>
            <a:off x="150540" y="3824465"/>
            <a:ext cx="2917289" cy="1207586"/>
            <a:chOff x="452150" y="1261875"/>
            <a:chExt cx="8038825" cy="3327600"/>
          </a:xfrm>
        </p:grpSpPr>
        <p:grpSp>
          <p:nvGrpSpPr>
            <p:cNvPr id="383" name="Google Shape;383;p36"/>
            <p:cNvGrpSpPr/>
            <p:nvPr/>
          </p:nvGrpSpPr>
          <p:grpSpPr>
            <a:xfrm>
              <a:off x="452150" y="1940625"/>
              <a:ext cx="1243500" cy="1970100"/>
              <a:chOff x="460250" y="1699375"/>
              <a:chExt cx="1243500" cy="1970100"/>
            </a:xfrm>
          </p:grpSpPr>
          <p:grpSp>
            <p:nvGrpSpPr>
              <p:cNvPr id="384" name="Google Shape;384;p36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385" name="Google Shape;385;p3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6" name="Google Shape;386;p36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7" name="Google Shape;387;p36"/>
              <p:cNvSpPr txBox="1"/>
              <p:nvPr/>
            </p:nvSpPr>
            <p:spPr>
              <a:xfrm>
                <a:off x="742900" y="1739750"/>
                <a:ext cx="637800" cy="15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88" name="Google Shape;388;p36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389" name="Google Shape;389;p3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" name="Google Shape;390;p36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6"/>
              <p:cNvSpPr txBox="1"/>
              <p:nvPr/>
            </p:nvSpPr>
            <p:spPr>
              <a:xfrm>
                <a:off x="5983300" y="1247200"/>
                <a:ext cx="734700" cy="12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392" name="Google Shape;392;p36"/>
            <p:cNvCxnSpPr>
              <a:stCxn id="386" idx="3"/>
              <a:endCxn id="390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3" name="Google Shape;393;p36"/>
            <p:cNvSpPr txBox="1"/>
            <p:nvPr/>
          </p:nvSpPr>
          <p:spPr>
            <a:xfrm>
              <a:off x="1841050" y="2617875"/>
              <a:ext cx="19620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cxnSp>
        <p:nvCxnSpPr>
          <p:cNvPr id="394" name="Google Shape;394;p36"/>
          <p:cNvCxnSpPr>
            <a:stCxn id="366" idx="3"/>
            <a:endCxn id="357" idx="0"/>
          </p:cNvCxnSpPr>
          <p:nvPr/>
        </p:nvCxnSpPr>
        <p:spPr>
          <a:xfrm flipH="1" rot="10800000">
            <a:off x="3067793" y="1718196"/>
            <a:ext cx="2754600" cy="810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36"/>
          <p:cNvCxnSpPr>
            <a:stCxn id="378" idx="3"/>
            <a:endCxn id="357" idx="1"/>
          </p:cNvCxnSpPr>
          <p:nvPr/>
        </p:nvCxnSpPr>
        <p:spPr>
          <a:xfrm flipH="1" rot="10800000">
            <a:off x="3067793" y="2043221"/>
            <a:ext cx="2356200" cy="10356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36"/>
          <p:cNvCxnSpPr>
            <a:stCxn id="390" idx="3"/>
            <a:endCxn id="357" idx="2"/>
          </p:cNvCxnSpPr>
          <p:nvPr/>
        </p:nvCxnSpPr>
        <p:spPr>
          <a:xfrm flipH="1" rot="10800000">
            <a:off x="3067793" y="2441658"/>
            <a:ext cx="2681100" cy="19866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7" name="Google Shape;39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9950" y="3030338"/>
            <a:ext cx="1167301" cy="108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5134" y="4484191"/>
            <a:ext cx="1112098" cy="412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89152" y="4149320"/>
            <a:ext cx="643624" cy="45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83885" y="3264134"/>
            <a:ext cx="817215" cy="81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type="title"/>
          </p:nvPr>
        </p:nvSpPr>
        <p:spPr>
          <a:xfrm>
            <a:off x="311700" y="445025"/>
            <a:ext cx="86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users use the same computer…</a:t>
            </a:r>
            <a:endParaRPr/>
          </a:p>
        </p:txBody>
      </p:sp>
      <p:pic>
        <p:nvPicPr>
          <p:cNvPr id="406" name="Google Shape;4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5190" y="1107027"/>
            <a:ext cx="2081659" cy="1293369"/>
          </a:xfrm>
          <a:prstGeom prst="rect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7" name="Google Shape;40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812">
            <a:off x="6435039" y="1633894"/>
            <a:ext cx="578082" cy="57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37"/>
          <p:cNvGrpSpPr/>
          <p:nvPr/>
        </p:nvGrpSpPr>
        <p:grpSpPr>
          <a:xfrm>
            <a:off x="2243441" y="1219646"/>
            <a:ext cx="2320005" cy="960345"/>
            <a:chOff x="452150" y="1261875"/>
            <a:chExt cx="8038825" cy="3327600"/>
          </a:xfrm>
        </p:grpSpPr>
        <p:grpSp>
          <p:nvGrpSpPr>
            <p:cNvPr id="409" name="Google Shape;409;p37"/>
            <p:cNvGrpSpPr/>
            <p:nvPr/>
          </p:nvGrpSpPr>
          <p:grpSpPr>
            <a:xfrm>
              <a:off x="452150" y="1940625"/>
              <a:ext cx="1243500" cy="2280475"/>
              <a:chOff x="460250" y="1699375"/>
              <a:chExt cx="1243500" cy="2280475"/>
            </a:xfrm>
          </p:grpSpPr>
          <p:grpSp>
            <p:nvGrpSpPr>
              <p:cNvPr id="410" name="Google Shape;410;p37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411" name="Google Shape;411;p3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2" name="Google Shape;412;p37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3" name="Google Shape;413;p37"/>
              <p:cNvSpPr txBox="1"/>
              <p:nvPr/>
            </p:nvSpPr>
            <p:spPr>
              <a:xfrm>
                <a:off x="742900" y="1739750"/>
                <a:ext cx="637800" cy="22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14" name="Google Shape;414;p37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415" name="Google Shape;415;p3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6" name="Google Shape;416;p37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7"/>
              <p:cNvSpPr txBox="1"/>
              <p:nvPr/>
            </p:nvSpPr>
            <p:spPr>
              <a:xfrm>
                <a:off x="5983300" y="1247200"/>
                <a:ext cx="734700" cy="25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418" name="Google Shape;418;p37"/>
            <p:cNvCxnSpPr>
              <a:stCxn id="412" idx="3"/>
              <a:endCxn id="416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9" name="Google Shape;419;p37"/>
            <p:cNvSpPr txBox="1"/>
            <p:nvPr/>
          </p:nvSpPr>
          <p:spPr>
            <a:xfrm>
              <a:off x="1841050" y="2617875"/>
              <a:ext cx="1962000" cy="14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420" name="Google Shape;420;p37"/>
          <p:cNvGrpSpPr/>
          <p:nvPr/>
        </p:nvGrpSpPr>
        <p:grpSpPr>
          <a:xfrm>
            <a:off x="2243441" y="2237139"/>
            <a:ext cx="2320005" cy="960345"/>
            <a:chOff x="452150" y="1261875"/>
            <a:chExt cx="8038825" cy="3327600"/>
          </a:xfrm>
        </p:grpSpPr>
        <p:grpSp>
          <p:nvGrpSpPr>
            <p:cNvPr id="421" name="Google Shape;421;p37"/>
            <p:cNvGrpSpPr/>
            <p:nvPr/>
          </p:nvGrpSpPr>
          <p:grpSpPr>
            <a:xfrm>
              <a:off x="452150" y="1940625"/>
              <a:ext cx="1243500" cy="2280475"/>
              <a:chOff x="460250" y="1699375"/>
              <a:chExt cx="1243500" cy="2280475"/>
            </a:xfrm>
          </p:grpSpPr>
          <p:grpSp>
            <p:nvGrpSpPr>
              <p:cNvPr id="422" name="Google Shape;422;p37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423" name="Google Shape;423;p3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4" name="Google Shape;424;p37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5" name="Google Shape;425;p37"/>
              <p:cNvSpPr txBox="1"/>
              <p:nvPr/>
            </p:nvSpPr>
            <p:spPr>
              <a:xfrm>
                <a:off x="742900" y="1739750"/>
                <a:ext cx="637800" cy="22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26" name="Google Shape;426;p37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427" name="Google Shape;427;p3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8" name="Google Shape;428;p37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37"/>
              <p:cNvSpPr txBox="1"/>
              <p:nvPr/>
            </p:nvSpPr>
            <p:spPr>
              <a:xfrm>
                <a:off x="5983300" y="1247200"/>
                <a:ext cx="734700" cy="25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430" name="Google Shape;430;p37"/>
            <p:cNvCxnSpPr>
              <a:stCxn id="424" idx="3"/>
              <a:endCxn id="428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1" name="Google Shape;431;p37"/>
            <p:cNvSpPr txBox="1"/>
            <p:nvPr/>
          </p:nvSpPr>
          <p:spPr>
            <a:xfrm>
              <a:off x="1841050" y="2617875"/>
              <a:ext cx="1962000" cy="14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grpSp>
        <p:nvGrpSpPr>
          <p:cNvPr id="432" name="Google Shape;432;p37"/>
          <p:cNvGrpSpPr/>
          <p:nvPr/>
        </p:nvGrpSpPr>
        <p:grpSpPr>
          <a:xfrm>
            <a:off x="2243441" y="3310142"/>
            <a:ext cx="2320005" cy="960345"/>
            <a:chOff x="452150" y="1261875"/>
            <a:chExt cx="8038825" cy="3327600"/>
          </a:xfrm>
        </p:grpSpPr>
        <p:grpSp>
          <p:nvGrpSpPr>
            <p:cNvPr id="433" name="Google Shape;433;p37"/>
            <p:cNvGrpSpPr/>
            <p:nvPr/>
          </p:nvGrpSpPr>
          <p:grpSpPr>
            <a:xfrm>
              <a:off x="452150" y="1940625"/>
              <a:ext cx="1243500" cy="2280475"/>
              <a:chOff x="460250" y="1699375"/>
              <a:chExt cx="1243500" cy="2280475"/>
            </a:xfrm>
          </p:grpSpPr>
          <p:grpSp>
            <p:nvGrpSpPr>
              <p:cNvPr id="434" name="Google Shape;434;p37"/>
              <p:cNvGrpSpPr/>
              <p:nvPr/>
            </p:nvGrpSpPr>
            <p:grpSpPr>
              <a:xfrm>
                <a:off x="460250" y="1699375"/>
                <a:ext cx="1243500" cy="1970100"/>
                <a:chOff x="847850" y="1610550"/>
                <a:chExt cx="1243500" cy="1970100"/>
              </a:xfrm>
            </p:grpSpPr>
            <p:pic>
              <p:nvPicPr>
                <p:cNvPr id="435" name="Google Shape;435;p3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21826" r="0" t="0"/>
                <a:stretch/>
              </p:blipFill>
              <p:spPr>
                <a:xfrm>
                  <a:off x="868875" y="2218425"/>
                  <a:ext cx="1218600" cy="1071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36" name="Google Shape;436;p37"/>
                <p:cNvSpPr/>
                <p:nvPr/>
              </p:nvSpPr>
              <p:spPr>
                <a:xfrm>
                  <a:off x="847850" y="1610550"/>
                  <a:ext cx="1243500" cy="19701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38100">
                  <a:solidFill>
                    <a:srgbClr val="00968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37" name="Google Shape;437;p37"/>
              <p:cNvSpPr txBox="1"/>
              <p:nvPr/>
            </p:nvSpPr>
            <p:spPr>
              <a:xfrm>
                <a:off x="742900" y="1739750"/>
                <a:ext cx="637800" cy="22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solidFill>
                      <a:schemeClr val="dk1"/>
                    </a:solidFill>
                  </a:rPr>
                  <a:t>test.c</a:t>
                </a:r>
                <a:endParaRPr sz="5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38" name="Google Shape;438;p37"/>
            <p:cNvGrpSpPr/>
            <p:nvPr/>
          </p:nvGrpSpPr>
          <p:grpSpPr>
            <a:xfrm>
              <a:off x="4166975" y="1261875"/>
              <a:ext cx="4324000" cy="3327600"/>
              <a:chOff x="4037775" y="1189675"/>
              <a:chExt cx="4324000" cy="3327600"/>
            </a:xfrm>
          </p:grpSpPr>
          <p:pic>
            <p:nvPicPr>
              <p:cNvPr id="439" name="Google Shape;439;p3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7775" y="1699374"/>
                <a:ext cx="4324000" cy="2326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0" name="Google Shape;440;p37"/>
              <p:cNvSpPr/>
              <p:nvPr/>
            </p:nvSpPr>
            <p:spPr>
              <a:xfrm>
                <a:off x="4037775" y="1189675"/>
                <a:ext cx="4323900" cy="3327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0096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37"/>
              <p:cNvSpPr txBox="1"/>
              <p:nvPr/>
            </p:nvSpPr>
            <p:spPr>
              <a:xfrm>
                <a:off x="5983300" y="1247200"/>
                <a:ext cx="734700" cy="25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1"/>
                    </a:solidFill>
                  </a:rPr>
                  <a:t>test.s</a:t>
                </a:r>
                <a:endParaRPr sz="60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442" name="Google Shape;442;p37"/>
            <p:cNvCxnSpPr>
              <a:stCxn id="436" idx="3"/>
              <a:endCxn id="440" idx="1"/>
            </p:cNvCxnSpPr>
            <p:nvPr/>
          </p:nvCxnSpPr>
          <p:spPr>
            <a:xfrm>
              <a:off x="1695650" y="2925675"/>
              <a:ext cx="2471400" cy="0"/>
            </a:xfrm>
            <a:prstGeom prst="straightConnector1">
              <a:avLst/>
            </a:prstGeom>
            <a:noFill/>
            <a:ln cap="flat" cmpd="sng" w="9525">
              <a:solidFill>
                <a:srgbClr val="ADADA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3" name="Google Shape;443;p37"/>
            <p:cNvSpPr txBox="1"/>
            <p:nvPr/>
          </p:nvSpPr>
          <p:spPr>
            <a:xfrm>
              <a:off x="1841050" y="2617875"/>
              <a:ext cx="1962000" cy="14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Compile step</a:t>
              </a:r>
              <a:endParaRPr sz="5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chemeClr val="dk1"/>
                  </a:solidFill>
                </a:rPr>
                <a:t>gcc -S -o test.s test.c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cxnSp>
        <p:nvCxnSpPr>
          <p:cNvPr id="444" name="Google Shape;444;p37"/>
          <p:cNvCxnSpPr>
            <a:stCxn id="416" idx="3"/>
            <a:endCxn id="407" idx="0"/>
          </p:cNvCxnSpPr>
          <p:nvPr/>
        </p:nvCxnSpPr>
        <p:spPr>
          <a:xfrm flipH="1" rot="10800000">
            <a:off x="4563417" y="1635319"/>
            <a:ext cx="2190000" cy="645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7"/>
          <p:cNvCxnSpPr>
            <a:stCxn id="428" idx="3"/>
            <a:endCxn id="407" idx="1"/>
          </p:cNvCxnSpPr>
          <p:nvPr/>
        </p:nvCxnSpPr>
        <p:spPr>
          <a:xfrm flipH="1" rot="10800000">
            <a:off x="4563417" y="1893811"/>
            <a:ext cx="1873200" cy="8235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37"/>
          <p:cNvCxnSpPr>
            <a:stCxn id="440" idx="3"/>
            <a:endCxn id="407" idx="2"/>
          </p:cNvCxnSpPr>
          <p:nvPr/>
        </p:nvCxnSpPr>
        <p:spPr>
          <a:xfrm flipH="1" rot="10800000">
            <a:off x="4563417" y="2210515"/>
            <a:ext cx="2131500" cy="15798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7" name="Google Shape;447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52119" y="2678641"/>
            <a:ext cx="928178" cy="86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4947" y="3834671"/>
            <a:ext cx="884283" cy="32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19678" y="3568399"/>
            <a:ext cx="511777" cy="361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20342" y="2864544"/>
            <a:ext cx="649807" cy="64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3924" y="2272563"/>
            <a:ext cx="1853125" cy="8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/>
          <p:cNvSpPr txBox="1"/>
          <p:nvPr>
            <p:ph type="title"/>
          </p:nvPr>
        </p:nvSpPr>
        <p:spPr>
          <a:xfrm>
            <a:off x="311700" y="21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But just like life… world inside computers are not simple…</a:t>
            </a:r>
            <a:endParaRPr sz="2120"/>
          </a:p>
        </p:txBody>
      </p:sp>
      <p:sp>
        <p:nvSpPr>
          <p:cNvPr id="457" name="Google Shape;457;p38"/>
          <p:cNvSpPr/>
          <p:nvPr/>
        </p:nvSpPr>
        <p:spPr>
          <a:xfrm>
            <a:off x="2539850" y="944100"/>
            <a:ext cx="3677400" cy="3756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8"/>
          <p:cNvSpPr txBox="1"/>
          <p:nvPr/>
        </p:nvSpPr>
        <p:spPr>
          <a:xfrm>
            <a:off x="2627600" y="2433950"/>
            <a:ext cx="3501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OPERATING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SYSTEM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459" name="Google Shape;4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7804">
            <a:off x="8036721" y="4075372"/>
            <a:ext cx="995859" cy="99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7804">
            <a:off x="7884321" y="3719697"/>
            <a:ext cx="995859" cy="99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7700" y="768963"/>
            <a:ext cx="1167301" cy="108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2884" y="2222816"/>
            <a:ext cx="1112098" cy="412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6902" y="1887945"/>
            <a:ext cx="643624" cy="45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767" y="3565005"/>
            <a:ext cx="1483375" cy="11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71635" y="1002759"/>
            <a:ext cx="817215" cy="81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1699" y="1404050"/>
            <a:ext cx="1853125" cy="8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9"/>
          <p:cNvGrpSpPr/>
          <p:nvPr/>
        </p:nvGrpSpPr>
        <p:grpSpPr>
          <a:xfrm>
            <a:off x="2201188" y="314876"/>
            <a:ext cx="4741610" cy="4368374"/>
            <a:chOff x="1208800" y="-314725"/>
            <a:chExt cx="5700421" cy="5143500"/>
          </a:xfrm>
        </p:grpSpPr>
        <p:sp>
          <p:nvSpPr>
            <p:cNvPr id="472" name="Google Shape;472;p39"/>
            <p:cNvSpPr/>
            <p:nvPr/>
          </p:nvSpPr>
          <p:spPr>
            <a:xfrm>
              <a:off x="3372701" y="797147"/>
              <a:ext cx="1158900" cy="19446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9"/>
            <p:cNvSpPr txBox="1"/>
            <p:nvPr/>
          </p:nvSpPr>
          <p:spPr>
            <a:xfrm>
              <a:off x="3544445" y="1462187"/>
              <a:ext cx="815400" cy="5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</a:rPr>
                <a:t>OS</a:t>
              </a:r>
              <a:endParaRPr sz="1700">
                <a:solidFill>
                  <a:schemeClr val="dk1"/>
                </a:solidFill>
              </a:endParaRPr>
            </a:p>
          </p:txBody>
        </p:sp>
        <p:pic>
          <p:nvPicPr>
            <p:cNvPr id="474" name="Google Shape;47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27524">
              <a:off x="5433760" y="2386965"/>
              <a:ext cx="547323" cy="515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27524">
              <a:off x="5349953" y="2202847"/>
              <a:ext cx="547323" cy="515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13158" y="675550"/>
              <a:ext cx="641923" cy="5598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82586" y="1428146"/>
              <a:ext cx="611565" cy="213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90722" y="1254798"/>
              <a:ext cx="353942" cy="235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3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08479" y="2153858"/>
              <a:ext cx="815739" cy="587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37905" y="796576"/>
              <a:ext cx="449403" cy="423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3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147400" y="1035226"/>
              <a:ext cx="1019073" cy="460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39"/>
            <p:cNvPicPr preferRelativeResize="0"/>
            <p:nvPr/>
          </p:nvPicPr>
          <p:blipFill rotWithShape="1">
            <a:blip r:embed="rId10">
              <a:alphaModFix/>
            </a:blip>
            <a:srcRect b="11435" l="7231" r="6680" t="10883"/>
            <a:stretch/>
          </p:blipFill>
          <p:spPr>
            <a:xfrm>
              <a:off x="1208800" y="-314725"/>
              <a:ext cx="5700421" cy="514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475" y="1876054"/>
            <a:ext cx="1324983" cy="13249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8" name="Google Shape;488;p40"/>
          <p:cNvGrpSpPr/>
          <p:nvPr/>
        </p:nvGrpSpPr>
        <p:grpSpPr>
          <a:xfrm>
            <a:off x="604186" y="1798461"/>
            <a:ext cx="1521271" cy="1372645"/>
            <a:chOff x="2481000" y="1017725"/>
            <a:chExt cx="4572502" cy="4125775"/>
          </a:xfrm>
        </p:grpSpPr>
        <p:pic>
          <p:nvPicPr>
            <p:cNvPr id="489" name="Google Shape;489;p40"/>
            <p:cNvPicPr preferRelativeResize="0"/>
            <p:nvPr/>
          </p:nvPicPr>
          <p:blipFill rotWithShape="1">
            <a:blip r:embed="rId4">
              <a:alphaModFix/>
            </a:blip>
            <a:srcRect b="11435" l="7231" r="6680" t="10883"/>
            <a:stretch/>
          </p:blipFill>
          <p:spPr>
            <a:xfrm>
              <a:off x="2481000" y="1017725"/>
              <a:ext cx="4572502" cy="412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52525" y="3133750"/>
              <a:ext cx="580275" cy="580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96025" y="1582500"/>
              <a:ext cx="2176200" cy="2176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2" name="Google Shape;492;p40"/>
          <p:cNvCxnSpPr/>
          <p:nvPr/>
        </p:nvCxnSpPr>
        <p:spPr>
          <a:xfrm>
            <a:off x="2270159" y="2249017"/>
            <a:ext cx="136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40"/>
          <p:cNvCxnSpPr/>
          <p:nvPr/>
        </p:nvCxnSpPr>
        <p:spPr>
          <a:xfrm rot="10800000">
            <a:off x="2279330" y="2736658"/>
            <a:ext cx="134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40"/>
          <p:cNvCxnSpPr/>
          <p:nvPr/>
        </p:nvCxnSpPr>
        <p:spPr>
          <a:xfrm>
            <a:off x="5445440" y="2254879"/>
            <a:ext cx="136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40"/>
          <p:cNvCxnSpPr/>
          <p:nvPr/>
        </p:nvCxnSpPr>
        <p:spPr>
          <a:xfrm rot="10800000">
            <a:off x="5454611" y="2742520"/>
            <a:ext cx="134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6" name="Google Shape;496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1949" y="1822288"/>
            <a:ext cx="1324975" cy="1324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7" name="Google Shape;497;p40"/>
          <p:cNvGrpSpPr/>
          <p:nvPr/>
        </p:nvGrpSpPr>
        <p:grpSpPr>
          <a:xfrm>
            <a:off x="647636" y="120786"/>
            <a:ext cx="1521271" cy="1372645"/>
            <a:chOff x="2481000" y="1017725"/>
            <a:chExt cx="4572502" cy="4125775"/>
          </a:xfrm>
        </p:grpSpPr>
        <p:pic>
          <p:nvPicPr>
            <p:cNvPr id="498" name="Google Shape;498;p40"/>
            <p:cNvPicPr preferRelativeResize="0"/>
            <p:nvPr/>
          </p:nvPicPr>
          <p:blipFill rotWithShape="1">
            <a:blip r:embed="rId4">
              <a:alphaModFix/>
            </a:blip>
            <a:srcRect b="11435" l="7231" r="6680" t="10883"/>
            <a:stretch/>
          </p:blipFill>
          <p:spPr>
            <a:xfrm>
              <a:off x="2481000" y="1017725"/>
              <a:ext cx="4572502" cy="412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52525" y="3133750"/>
              <a:ext cx="580275" cy="580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96025" y="1582500"/>
              <a:ext cx="2176200" cy="2176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1" name="Google Shape;501;p40"/>
          <p:cNvCxnSpPr/>
          <p:nvPr/>
        </p:nvCxnSpPr>
        <p:spPr>
          <a:xfrm>
            <a:off x="2313609" y="571342"/>
            <a:ext cx="1849800" cy="10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0"/>
          <p:cNvCxnSpPr/>
          <p:nvPr/>
        </p:nvCxnSpPr>
        <p:spPr>
          <a:xfrm rot="10800000">
            <a:off x="2322750" y="1059125"/>
            <a:ext cx="1599900" cy="87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03" name="Google Shape;503;p40"/>
          <p:cNvGrpSpPr/>
          <p:nvPr/>
        </p:nvGrpSpPr>
        <p:grpSpPr>
          <a:xfrm>
            <a:off x="647636" y="3398736"/>
            <a:ext cx="1521271" cy="1372645"/>
            <a:chOff x="2481000" y="1017725"/>
            <a:chExt cx="4572502" cy="4125775"/>
          </a:xfrm>
        </p:grpSpPr>
        <p:pic>
          <p:nvPicPr>
            <p:cNvPr id="504" name="Google Shape;504;p40"/>
            <p:cNvPicPr preferRelativeResize="0"/>
            <p:nvPr/>
          </p:nvPicPr>
          <p:blipFill rotWithShape="1">
            <a:blip r:embed="rId4">
              <a:alphaModFix/>
            </a:blip>
            <a:srcRect b="11435" l="7231" r="6680" t="10883"/>
            <a:stretch/>
          </p:blipFill>
          <p:spPr>
            <a:xfrm>
              <a:off x="2481000" y="1017725"/>
              <a:ext cx="4572502" cy="412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52525" y="3133750"/>
              <a:ext cx="580275" cy="580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96025" y="1582500"/>
              <a:ext cx="2176200" cy="2176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7" name="Google Shape;507;p40"/>
          <p:cNvCxnSpPr/>
          <p:nvPr/>
        </p:nvCxnSpPr>
        <p:spPr>
          <a:xfrm flipH="1" rot="10800000">
            <a:off x="2313609" y="3011092"/>
            <a:ext cx="14553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40"/>
          <p:cNvCxnSpPr/>
          <p:nvPr/>
        </p:nvCxnSpPr>
        <p:spPr>
          <a:xfrm flipH="1">
            <a:off x="2322900" y="3359350"/>
            <a:ext cx="1558800" cy="9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09" name="Google Shape;509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48927" y="3849304"/>
            <a:ext cx="1068000" cy="106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0" name="Google Shape;510;p40"/>
          <p:cNvCxnSpPr/>
          <p:nvPr/>
        </p:nvCxnSpPr>
        <p:spPr>
          <a:xfrm>
            <a:off x="7591150" y="3282075"/>
            <a:ext cx="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40"/>
          <p:cNvCxnSpPr/>
          <p:nvPr/>
        </p:nvCxnSpPr>
        <p:spPr>
          <a:xfrm rot="10800000">
            <a:off x="8087750" y="3273100"/>
            <a:ext cx="0" cy="5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2" name="Google Shape;512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79496" y="533703"/>
            <a:ext cx="778509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0"/>
          <p:cNvPicPr preferRelativeResize="0"/>
          <p:nvPr/>
        </p:nvPicPr>
        <p:blipFill rotWithShape="1">
          <a:blip r:embed="rId4">
            <a:alphaModFix/>
          </a:blip>
          <a:srcRect b="11435" l="7231" r="6680" t="10883"/>
          <a:stretch/>
        </p:blipFill>
        <p:spPr>
          <a:xfrm>
            <a:off x="7591152" y="298429"/>
            <a:ext cx="1455318" cy="1340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1"/>
          <p:cNvSpPr txBox="1"/>
          <p:nvPr>
            <p:ph type="ctrTitle"/>
          </p:nvPr>
        </p:nvSpPr>
        <p:spPr>
          <a:xfrm>
            <a:off x="930858" y="509600"/>
            <a:ext cx="7282200" cy="1754400"/>
          </a:xfrm>
          <a:prstGeom prst="rect">
            <a:avLst/>
          </a:prstGeom>
        </p:spPr>
        <p:txBody>
          <a:bodyPr anchorCtr="0" anchor="b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44"/>
          </a:p>
        </p:txBody>
      </p:sp>
      <p:sp>
        <p:nvSpPr>
          <p:cNvPr id="519" name="Google Shape;519;p41"/>
          <p:cNvSpPr txBox="1"/>
          <p:nvPr>
            <p:ph idx="1" type="subTitle"/>
          </p:nvPr>
        </p:nvSpPr>
        <p:spPr>
          <a:xfrm>
            <a:off x="930851" y="2295475"/>
            <a:ext cx="7282200" cy="677400"/>
          </a:xfrm>
          <a:prstGeom prst="rect">
            <a:avLst/>
          </a:prstGeom>
        </p:spPr>
        <p:txBody>
          <a:bodyPr anchorCtr="0" anchor="t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3"/>
          </a:p>
        </p:txBody>
      </p:sp>
      <p:pic>
        <p:nvPicPr>
          <p:cNvPr id="520" name="Google Shape;5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50" y="-1"/>
            <a:ext cx="7815095" cy="40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2172" y="950951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0095" y="319522"/>
            <a:ext cx="453637" cy="453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523;p41"/>
          <p:cNvCxnSpPr>
            <a:stCxn id="521" idx="3"/>
            <a:endCxn id="522" idx="1"/>
          </p:cNvCxnSpPr>
          <p:nvPr/>
        </p:nvCxnSpPr>
        <p:spPr>
          <a:xfrm flipH="1" rot="10800000">
            <a:off x="2566239" y="546485"/>
            <a:ext cx="2103900" cy="5865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4" name="Google Shape;52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984" y="1315019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5" name="Google Shape;525;p41"/>
          <p:cNvCxnSpPr>
            <a:stCxn id="522" idx="3"/>
            <a:endCxn id="524" idx="1"/>
          </p:cNvCxnSpPr>
          <p:nvPr/>
        </p:nvCxnSpPr>
        <p:spPr>
          <a:xfrm>
            <a:off x="5123732" y="546340"/>
            <a:ext cx="942300" cy="9507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6" name="Google Shape;52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25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40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4550" y="4103450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9" name="Google Shape;529;p41"/>
          <p:cNvCxnSpPr/>
          <p:nvPr/>
        </p:nvCxnSpPr>
        <p:spPr>
          <a:xfrm>
            <a:off x="2247700" y="4362125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41"/>
          <p:cNvCxnSpPr/>
          <p:nvPr/>
        </p:nvCxnSpPr>
        <p:spPr>
          <a:xfrm>
            <a:off x="5195450" y="4342075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41"/>
          <p:cNvCxnSpPr/>
          <p:nvPr/>
        </p:nvCxnSpPr>
        <p:spPr>
          <a:xfrm flipH="1">
            <a:off x="52457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41"/>
          <p:cNvCxnSpPr/>
          <p:nvPr/>
        </p:nvCxnSpPr>
        <p:spPr>
          <a:xfrm flipH="1">
            <a:off x="23029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3" name="Google Shape;533;p41"/>
          <p:cNvSpPr txBox="1"/>
          <p:nvPr/>
        </p:nvSpPr>
        <p:spPr>
          <a:xfrm>
            <a:off x="2476900" y="3953313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4" name="Google Shape;534;p41"/>
          <p:cNvSpPr txBox="1"/>
          <p:nvPr/>
        </p:nvSpPr>
        <p:spPr>
          <a:xfrm>
            <a:off x="5309800" y="4007163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these things are generally studied in Core CS subject.</a:t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837750" y="3890325"/>
            <a:ext cx="74592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Programming  + DSA</a:t>
            </a:r>
            <a:endParaRPr/>
          </a:p>
        </p:txBody>
      </p:sp>
      <p:sp>
        <p:nvSpPr>
          <p:cNvPr id="541" name="Google Shape;541;p42"/>
          <p:cNvSpPr/>
          <p:nvPr/>
        </p:nvSpPr>
        <p:spPr>
          <a:xfrm>
            <a:off x="1273825" y="2777175"/>
            <a:ext cx="3098400" cy="8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Development</a:t>
            </a:r>
            <a:endParaRPr/>
          </a:p>
        </p:txBody>
      </p:sp>
      <p:sp>
        <p:nvSpPr>
          <p:cNvPr id="542" name="Google Shape;542;p42"/>
          <p:cNvSpPr/>
          <p:nvPr/>
        </p:nvSpPr>
        <p:spPr>
          <a:xfrm>
            <a:off x="4650950" y="2777175"/>
            <a:ext cx="3098400" cy="8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CS</a:t>
            </a:r>
            <a:endParaRPr/>
          </a:p>
        </p:txBody>
      </p:sp>
      <p:sp>
        <p:nvSpPr>
          <p:cNvPr id="543" name="Google Shape;543;p42"/>
          <p:cNvSpPr/>
          <p:nvPr/>
        </p:nvSpPr>
        <p:spPr>
          <a:xfrm>
            <a:off x="1842575" y="1472800"/>
            <a:ext cx="5192100" cy="10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2475" y="321042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1" name="Google Shape;551;p43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43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43"/>
          <p:cNvCxnSpPr/>
          <p:nvPr/>
        </p:nvCxnSpPr>
        <p:spPr>
          <a:xfrm flipH="1">
            <a:off x="51436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43"/>
          <p:cNvCxnSpPr/>
          <p:nvPr/>
        </p:nvCxnSpPr>
        <p:spPr>
          <a:xfrm flipH="1">
            <a:off x="22008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43"/>
          <p:cNvSpPr txBox="1"/>
          <p:nvPr/>
        </p:nvSpPr>
        <p:spPr>
          <a:xfrm>
            <a:off x="7088525" y="2729375"/>
            <a:ext cx="19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counter =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6" name="Google Shape;556;p43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7" name="Google Shape;557;p43"/>
          <p:cNvSpPr txBox="1"/>
          <p:nvPr/>
        </p:nvSpPr>
        <p:spPr>
          <a:xfrm>
            <a:off x="5207725" y="3114138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8" name="Google Shape;558;p43"/>
          <p:cNvSpPr txBox="1"/>
          <p:nvPr/>
        </p:nvSpPr>
        <p:spPr>
          <a:xfrm>
            <a:off x="4297100" y="1078100"/>
            <a:ext cx="46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 now how do we scale this ??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59" name="Google Shape;55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550" y="297750"/>
            <a:ext cx="3269075" cy="2354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we will see the tools/techniques we have!</a:t>
            </a:r>
            <a:endParaRPr/>
          </a:p>
        </p:txBody>
      </p:sp>
      <p:sp>
        <p:nvSpPr>
          <p:cNvPr id="565" name="Google Shape;565;p44"/>
          <p:cNvSpPr txBox="1"/>
          <p:nvPr/>
        </p:nvSpPr>
        <p:spPr>
          <a:xfrm>
            <a:off x="1955175" y="1458325"/>
            <a:ext cx="5003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Performance (Latency)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Throughput (Capacity / QPS)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Scalability (Growth handling)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Availability (Uptime)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Reliability (Correctness under failures)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Consistency (Strong vs Eventual)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Durability (No data loss)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Security (Auth + Abuse protection)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Observability (Logs, Metrics, Tracing)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Maintainability / Operability (Safe changes &amp; deployment)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25" y="1390813"/>
            <a:ext cx="2174950" cy="15666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1" name="Google Shape;5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325" y="3589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5475" y="3589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3625" y="358912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" name="Google Shape;574;p45"/>
          <p:cNvCxnSpPr/>
          <p:nvPr/>
        </p:nvCxnSpPr>
        <p:spPr>
          <a:xfrm>
            <a:off x="1376775" y="38478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45"/>
          <p:cNvCxnSpPr/>
          <p:nvPr/>
        </p:nvCxnSpPr>
        <p:spPr>
          <a:xfrm>
            <a:off x="4324525" y="38277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45"/>
          <p:cNvCxnSpPr/>
          <p:nvPr/>
        </p:nvCxnSpPr>
        <p:spPr>
          <a:xfrm flipH="1">
            <a:off x="4374775" y="42588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45"/>
          <p:cNvCxnSpPr/>
          <p:nvPr/>
        </p:nvCxnSpPr>
        <p:spPr>
          <a:xfrm flipH="1">
            <a:off x="1431975" y="42588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8" name="Google Shape;578;p45"/>
          <p:cNvSpPr txBox="1"/>
          <p:nvPr/>
        </p:nvSpPr>
        <p:spPr>
          <a:xfrm>
            <a:off x="1605975" y="34389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9" name="Google Shape;579;p45"/>
          <p:cNvSpPr txBox="1"/>
          <p:nvPr/>
        </p:nvSpPr>
        <p:spPr>
          <a:xfrm>
            <a:off x="4438875" y="3492838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80" name="Google Shape;580;p45"/>
          <p:cNvSpPr txBox="1"/>
          <p:nvPr/>
        </p:nvSpPr>
        <p:spPr>
          <a:xfrm>
            <a:off x="257925" y="355125"/>
            <a:ext cx="515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So now how do we scale this ??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581" name="Google Shape;581;p45"/>
          <p:cNvSpPr txBox="1"/>
          <p:nvPr/>
        </p:nvSpPr>
        <p:spPr>
          <a:xfrm>
            <a:off x="5682900" y="22525"/>
            <a:ext cx="34611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Performance (Latency)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Throughput (Capacity / QPS)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Scalability (Growth handling)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Availability (Uptime)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Reliability (Correctness under failures)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Consistency (Strong vs Eventual)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Durability (No data loss)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Security (Auth + Abuse protection)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Observability (Logs, Metrics, Tracing)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Maintainability / Operability (Safe changes &amp; deployment)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6"/>
          <p:cNvSpPr txBox="1"/>
          <p:nvPr>
            <p:ph type="ctrTitle"/>
          </p:nvPr>
        </p:nvSpPr>
        <p:spPr>
          <a:xfrm>
            <a:off x="930858" y="509600"/>
            <a:ext cx="7282200" cy="1754400"/>
          </a:xfrm>
          <a:prstGeom prst="rect">
            <a:avLst/>
          </a:prstGeom>
        </p:spPr>
        <p:txBody>
          <a:bodyPr anchorCtr="0" anchor="b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44"/>
          </a:p>
        </p:txBody>
      </p:sp>
      <p:sp>
        <p:nvSpPr>
          <p:cNvPr id="587" name="Google Shape;587;p46"/>
          <p:cNvSpPr txBox="1"/>
          <p:nvPr>
            <p:ph idx="1" type="subTitle"/>
          </p:nvPr>
        </p:nvSpPr>
        <p:spPr>
          <a:xfrm>
            <a:off x="930851" y="2295475"/>
            <a:ext cx="7282200" cy="677400"/>
          </a:xfrm>
          <a:prstGeom prst="rect">
            <a:avLst/>
          </a:prstGeom>
        </p:spPr>
        <p:txBody>
          <a:bodyPr anchorCtr="0" anchor="t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3"/>
          </a:p>
        </p:txBody>
      </p:sp>
      <p:pic>
        <p:nvPicPr>
          <p:cNvPr id="588" name="Google Shape;5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50" y="-1"/>
            <a:ext cx="7815095" cy="40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2172" y="950951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0095" y="319522"/>
            <a:ext cx="453637" cy="453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1" name="Google Shape;591;p46"/>
          <p:cNvCxnSpPr>
            <a:stCxn id="589" idx="3"/>
            <a:endCxn id="590" idx="1"/>
          </p:cNvCxnSpPr>
          <p:nvPr/>
        </p:nvCxnSpPr>
        <p:spPr>
          <a:xfrm flipH="1" rot="10800000">
            <a:off x="2566239" y="546485"/>
            <a:ext cx="2103900" cy="5865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2" name="Google Shape;59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984" y="1315019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46"/>
          <p:cNvCxnSpPr>
            <a:stCxn id="590" idx="3"/>
            <a:endCxn id="592" idx="1"/>
          </p:cNvCxnSpPr>
          <p:nvPr/>
        </p:nvCxnSpPr>
        <p:spPr>
          <a:xfrm>
            <a:off x="5123732" y="546340"/>
            <a:ext cx="942300" cy="9507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4" name="Google Shape;59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25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40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4550" y="4103450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46"/>
          <p:cNvCxnSpPr/>
          <p:nvPr/>
        </p:nvCxnSpPr>
        <p:spPr>
          <a:xfrm>
            <a:off x="2247700" y="4362125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46"/>
          <p:cNvCxnSpPr/>
          <p:nvPr/>
        </p:nvCxnSpPr>
        <p:spPr>
          <a:xfrm>
            <a:off x="5195450" y="4342075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46"/>
          <p:cNvCxnSpPr/>
          <p:nvPr/>
        </p:nvCxnSpPr>
        <p:spPr>
          <a:xfrm flipH="1">
            <a:off x="52457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0" name="Google Shape;600;p46"/>
          <p:cNvCxnSpPr/>
          <p:nvPr/>
        </p:nvCxnSpPr>
        <p:spPr>
          <a:xfrm flipH="1">
            <a:off x="23029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1" name="Google Shape;601;p46"/>
          <p:cNvSpPr txBox="1"/>
          <p:nvPr/>
        </p:nvSpPr>
        <p:spPr>
          <a:xfrm>
            <a:off x="2476900" y="3953313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2" name="Google Shape;602;p46"/>
          <p:cNvSpPr txBox="1"/>
          <p:nvPr/>
        </p:nvSpPr>
        <p:spPr>
          <a:xfrm>
            <a:off x="5309800" y="4007163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: The Problem </a:t>
            </a:r>
            <a:endParaRPr/>
          </a:p>
        </p:txBody>
      </p:sp>
      <p:pic>
        <p:nvPicPr>
          <p:cNvPr id="608" name="Google Shape;6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3742"/>
            <a:ext cx="9144003" cy="1268016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7"/>
          <p:cNvSpPr txBox="1"/>
          <p:nvPr>
            <p:ph idx="1" type="body"/>
          </p:nvPr>
        </p:nvSpPr>
        <p:spPr>
          <a:xfrm>
            <a:off x="311700" y="2777175"/>
            <a:ext cx="8520600" cy="19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1) Client → Server (network + TLS)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Same region (client nearby / good network): 10–50 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Cross-country / mobile / bad network: 50–200+ 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TLS handshake (if new connection): adds 20–100 ms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: The Problem </a:t>
            </a:r>
            <a:endParaRPr/>
          </a:p>
        </p:txBody>
      </p:sp>
      <p:pic>
        <p:nvPicPr>
          <p:cNvPr id="615" name="Google Shape;61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3742"/>
            <a:ext cx="9144003" cy="1268016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8"/>
          <p:cNvSpPr txBox="1"/>
          <p:nvPr>
            <p:ph idx="1" type="body"/>
          </p:nvPr>
        </p:nvSpPr>
        <p:spPr>
          <a:xfrm>
            <a:off x="311700" y="2914875"/>
            <a:ext cx="8520600" cy="19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Server → DB (network inside data center/VPC)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Within same VPC / same region: 0.2–2 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Across AZ / slightly farther: 1–5 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(If DB is outside / VPN / public): can jump to 10–50 ms (avoid this)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9"/>
          <p:cNvSpPr txBox="1"/>
          <p:nvPr>
            <p:ph type="ctrTitle"/>
          </p:nvPr>
        </p:nvSpPr>
        <p:spPr>
          <a:xfrm>
            <a:off x="930858" y="509600"/>
            <a:ext cx="7282200" cy="1754400"/>
          </a:xfrm>
          <a:prstGeom prst="rect">
            <a:avLst/>
          </a:prstGeom>
        </p:spPr>
        <p:txBody>
          <a:bodyPr anchorCtr="0" anchor="b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44"/>
          </a:p>
        </p:txBody>
      </p:sp>
      <p:sp>
        <p:nvSpPr>
          <p:cNvPr id="622" name="Google Shape;622;p49"/>
          <p:cNvSpPr txBox="1"/>
          <p:nvPr>
            <p:ph idx="1" type="subTitle"/>
          </p:nvPr>
        </p:nvSpPr>
        <p:spPr>
          <a:xfrm>
            <a:off x="930851" y="2295475"/>
            <a:ext cx="7282200" cy="677400"/>
          </a:xfrm>
          <a:prstGeom prst="rect">
            <a:avLst/>
          </a:prstGeom>
        </p:spPr>
        <p:txBody>
          <a:bodyPr anchorCtr="0" anchor="t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3"/>
          </a:p>
        </p:txBody>
      </p:sp>
      <p:pic>
        <p:nvPicPr>
          <p:cNvPr id="623" name="Google Shape;6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50" y="-1"/>
            <a:ext cx="7815095" cy="40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0747" y="9285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6245" y="861397"/>
            <a:ext cx="453637" cy="453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6" name="Google Shape;626;p49"/>
          <p:cNvCxnSpPr>
            <a:stCxn id="624" idx="3"/>
            <a:endCxn id="625" idx="1"/>
          </p:cNvCxnSpPr>
          <p:nvPr/>
        </p:nvCxnSpPr>
        <p:spPr>
          <a:xfrm flipH="1" rot="10800000">
            <a:off x="2494814" y="1088123"/>
            <a:ext cx="71400" cy="225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27" name="Google Shape;627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984" y="1315019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8" name="Google Shape;628;p49"/>
          <p:cNvCxnSpPr>
            <a:stCxn id="625" idx="3"/>
            <a:endCxn id="627" idx="1"/>
          </p:cNvCxnSpPr>
          <p:nvPr/>
        </p:nvCxnSpPr>
        <p:spPr>
          <a:xfrm>
            <a:off x="3019882" y="1088215"/>
            <a:ext cx="3046200" cy="4089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29" name="Google Shape;62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25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40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4550" y="4103450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p49"/>
          <p:cNvCxnSpPr/>
          <p:nvPr/>
        </p:nvCxnSpPr>
        <p:spPr>
          <a:xfrm>
            <a:off x="2247700" y="4362125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p49"/>
          <p:cNvCxnSpPr/>
          <p:nvPr/>
        </p:nvCxnSpPr>
        <p:spPr>
          <a:xfrm>
            <a:off x="5195450" y="4342075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9"/>
          <p:cNvCxnSpPr/>
          <p:nvPr/>
        </p:nvCxnSpPr>
        <p:spPr>
          <a:xfrm flipH="1">
            <a:off x="52457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49"/>
          <p:cNvCxnSpPr/>
          <p:nvPr/>
        </p:nvCxnSpPr>
        <p:spPr>
          <a:xfrm flipH="1">
            <a:off x="23029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49"/>
          <p:cNvSpPr txBox="1"/>
          <p:nvPr/>
        </p:nvSpPr>
        <p:spPr>
          <a:xfrm>
            <a:off x="2476900" y="3953313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7" name="Google Shape;637;p49"/>
          <p:cNvSpPr txBox="1"/>
          <p:nvPr/>
        </p:nvSpPr>
        <p:spPr>
          <a:xfrm>
            <a:off x="5309800" y="4007163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032" y="1809700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50"/>
          <p:cNvPicPr preferRelativeResize="0"/>
          <p:nvPr/>
        </p:nvPicPr>
        <p:blipFill rotWithShape="1">
          <a:blip r:embed="rId4">
            <a:alphaModFix/>
          </a:blip>
          <a:srcRect b="20762" l="6244" r="5190" t="12438"/>
          <a:stretch/>
        </p:blipFill>
        <p:spPr>
          <a:xfrm>
            <a:off x="45375" y="136075"/>
            <a:ext cx="7431675" cy="467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37" y="109450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884" y="244410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4438" y="7620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414" y="94551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126" y="380241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989" y="1704514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123" y="2051257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6023" y="2864807"/>
            <a:ext cx="797800" cy="7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2" name="Google Shape;652;p50"/>
          <p:cNvCxnSpPr>
            <a:stCxn id="650" idx="3"/>
            <a:endCxn id="651" idx="1"/>
          </p:cNvCxnSpPr>
          <p:nvPr/>
        </p:nvCxnSpPr>
        <p:spPr>
          <a:xfrm>
            <a:off x="3687949" y="2359670"/>
            <a:ext cx="4328100" cy="9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(Latency) — reduce response time</a:t>
            </a:r>
            <a:endParaRPr/>
          </a:p>
        </p:txBody>
      </p:sp>
      <p:pic>
        <p:nvPicPr>
          <p:cNvPr id="658" name="Google Shape;658;p51"/>
          <p:cNvPicPr preferRelativeResize="0"/>
          <p:nvPr/>
        </p:nvPicPr>
        <p:blipFill rotWithShape="1">
          <a:blip r:embed="rId3">
            <a:alphaModFix/>
          </a:blip>
          <a:srcRect b="0" l="0" r="0" t="24053"/>
          <a:stretch/>
        </p:blipFill>
        <p:spPr>
          <a:xfrm>
            <a:off x="87750" y="1414450"/>
            <a:ext cx="8968476" cy="26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Redis?</a:t>
            </a:r>
            <a:endParaRPr/>
          </a:p>
        </p:txBody>
      </p:sp>
      <p:sp>
        <p:nvSpPr>
          <p:cNvPr id="664" name="Google Shape;664;p52"/>
          <p:cNvSpPr txBox="1"/>
          <p:nvPr>
            <p:ph idx="1" type="body"/>
          </p:nvPr>
        </p:nvSpPr>
        <p:spPr>
          <a:xfrm>
            <a:off x="311700" y="1253300"/>
            <a:ext cx="3473100" cy="33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of almost Database, </a:t>
            </a:r>
            <a:br>
              <a:rPr lang="en"/>
            </a:br>
            <a:r>
              <a:rPr lang="en"/>
              <a:t>but on RAM…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Extremely Fast…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ACID Properties available…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Readymade DS…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be scaled too!</a:t>
            </a:r>
            <a:endParaRPr/>
          </a:p>
        </p:txBody>
      </p:sp>
      <p:pic>
        <p:nvPicPr>
          <p:cNvPr id="665" name="Google Shape;665;p52"/>
          <p:cNvPicPr preferRelativeResize="0"/>
          <p:nvPr/>
        </p:nvPicPr>
        <p:blipFill rotWithShape="1">
          <a:blip r:embed="rId3">
            <a:alphaModFix/>
          </a:blip>
          <a:srcRect b="32834" l="15937" r="16045" t="27077"/>
          <a:stretch/>
        </p:blipFill>
        <p:spPr>
          <a:xfrm>
            <a:off x="3784800" y="1491425"/>
            <a:ext cx="4975574" cy="195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032" y="1809700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3"/>
          <p:cNvPicPr preferRelativeResize="0"/>
          <p:nvPr/>
        </p:nvPicPr>
        <p:blipFill rotWithShape="1">
          <a:blip r:embed="rId4">
            <a:alphaModFix/>
          </a:blip>
          <a:srcRect b="20762" l="6244" r="5190" t="12438"/>
          <a:stretch/>
        </p:blipFill>
        <p:spPr>
          <a:xfrm>
            <a:off x="45375" y="136075"/>
            <a:ext cx="7431675" cy="467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37" y="109450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884" y="244410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4438" y="7620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414" y="94551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126" y="380241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989" y="1704514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123" y="2051257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6023" y="2864807"/>
            <a:ext cx="797800" cy="7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0" name="Google Shape;680;p53"/>
          <p:cNvCxnSpPr>
            <a:stCxn id="678" idx="3"/>
            <a:endCxn id="679" idx="1"/>
          </p:cNvCxnSpPr>
          <p:nvPr/>
        </p:nvCxnSpPr>
        <p:spPr>
          <a:xfrm>
            <a:off x="3687949" y="2359670"/>
            <a:ext cx="4328100" cy="9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032" y="1809700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4"/>
          <p:cNvPicPr preferRelativeResize="0"/>
          <p:nvPr/>
        </p:nvPicPr>
        <p:blipFill rotWithShape="1">
          <a:blip r:embed="rId4">
            <a:alphaModFix/>
          </a:blip>
          <a:srcRect b="20762" l="6244" r="5190" t="12438"/>
          <a:stretch/>
        </p:blipFill>
        <p:spPr>
          <a:xfrm>
            <a:off x="45375" y="136075"/>
            <a:ext cx="7431675" cy="467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37" y="109450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884" y="244410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4438" y="7620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414" y="94551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126" y="380241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989" y="1704514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123" y="2051257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6023" y="2864807"/>
            <a:ext cx="797800" cy="7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5" name="Google Shape;695;p54"/>
          <p:cNvCxnSpPr>
            <a:stCxn id="693" idx="3"/>
            <a:endCxn id="694" idx="1"/>
          </p:cNvCxnSpPr>
          <p:nvPr/>
        </p:nvCxnSpPr>
        <p:spPr>
          <a:xfrm>
            <a:off x="3687949" y="2359670"/>
            <a:ext cx="4328100" cy="90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96" name="Google Shape;69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5513" y="330739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113" y="26702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888" y="326357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2963" y="99712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5363" y="29391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6263" y="170452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9476" y="29391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2551" y="115913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788" y="15895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788" y="4504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7763" y="32713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238" y="30863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238" y="19490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4476" y="2564110"/>
            <a:ext cx="495036" cy="49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27" y="1925151"/>
            <a:ext cx="1816875" cy="18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5"/>
          <p:cNvSpPr/>
          <p:nvPr/>
        </p:nvSpPr>
        <p:spPr>
          <a:xfrm>
            <a:off x="5611946" y="1331876"/>
            <a:ext cx="963900" cy="165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5"/>
          <p:cNvSpPr txBox="1"/>
          <p:nvPr/>
        </p:nvSpPr>
        <p:spPr>
          <a:xfrm>
            <a:off x="5754802" y="1896696"/>
            <a:ext cx="67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OS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717" name="Google Shape;71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4370">
            <a:off x="7066081" y="2631597"/>
            <a:ext cx="662013" cy="636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34370">
            <a:off x="6964731" y="2404258"/>
            <a:ext cx="662013" cy="636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6017" y="1228605"/>
            <a:ext cx="533952" cy="475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4687" y="1867785"/>
            <a:ext cx="508700" cy="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7355" y="1720560"/>
            <a:ext cx="294409" cy="20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3545" y="2484132"/>
            <a:ext cx="678532" cy="49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7522" y="1331392"/>
            <a:ext cx="373813" cy="359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5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92740" y="1534077"/>
            <a:ext cx="847665" cy="391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5"/>
          <p:cNvPicPr preferRelativeResize="0"/>
          <p:nvPr/>
        </p:nvPicPr>
        <p:blipFill rotWithShape="1">
          <a:blip r:embed="rId11">
            <a:alphaModFix/>
          </a:blip>
          <a:srcRect b="11435" l="7231" r="6680" t="10883"/>
          <a:stretch/>
        </p:blipFill>
        <p:spPr>
          <a:xfrm>
            <a:off x="3812013" y="387564"/>
            <a:ext cx="4741610" cy="4368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6" name="Google Shape;726;p55"/>
          <p:cNvCxnSpPr/>
          <p:nvPr/>
        </p:nvCxnSpPr>
        <p:spPr>
          <a:xfrm flipH="1" rot="10800000">
            <a:off x="2555102" y="2832688"/>
            <a:ext cx="12885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 (Handle more QPS) — avoid server bottleneck</a:t>
            </a:r>
            <a:endParaRPr/>
          </a:p>
        </p:txBody>
      </p:sp>
      <p:sp>
        <p:nvSpPr>
          <p:cNvPr id="732" name="Google Shape;732;p56"/>
          <p:cNvSpPr txBox="1"/>
          <p:nvPr/>
        </p:nvSpPr>
        <p:spPr>
          <a:xfrm>
            <a:off x="252425" y="1147775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Rule-of-thumb QPS ranges (per instance)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A) “CPU-only” endpoint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(no DB, tiny response)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 GET /health, cached /count, simple computations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vCPU: ~500–5,000 QPS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vCPU: ~1,000–10,000 QPS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vCPU: ~3,000–20,000 QPS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vCPU: ~8,000–50,000 QPS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6"/>
          <p:cNvSpPr txBox="1"/>
          <p:nvPr/>
        </p:nvSpPr>
        <p:spPr>
          <a:xfrm>
            <a:off x="3072000" y="1255475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B) “DB read per request” (like GET /count hitting Postgres)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 vCPU: ~100–800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 vCPU: ~200–1,500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 vCPU: ~500–3,000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8 vCPU: ~1,000–6,000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(Usually DB or DB connection pool becomes the limiter before the EC2 CPU does.)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4" name="Google Shape;734;p56"/>
          <p:cNvSpPr txBox="1"/>
          <p:nvPr/>
        </p:nvSpPr>
        <p:spPr>
          <a:xfrm>
            <a:off x="6072000" y="156820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C) “DB write per request” (like POST /increment)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 vCPU: ~50–400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 vCPU: ~100–800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 vCPU: ~250–1,500 QPS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8 vCPU: ~500–3,000 QPS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Instances</a:t>
            </a:r>
            <a:endParaRPr/>
          </a:p>
        </p:txBody>
      </p:sp>
      <p:sp>
        <p:nvSpPr>
          <p:cNvPr id="740" name="Google Shape;740;p57"/>
          <p:cNvSpPr txBox="1"/>
          <p:nvPr>
            <p:ph idx="1" type="body"/>
          </p:nvPr>
        </p:nvSpPr>
        <p:spPr>
          <a:xfrm>
            <a:off x="2986563" y="1152475"/>
            <a:ext cx="216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Vertical Scaling</a:t>
            </a:r>
            <a:endParaRPr/>
          </a:p>
        </p:txBody>
      </p:sp>
      <p:sp>
        <p:nvSpPr>
          <p:cNvPr id="741" name="Google Shape;741;p57"/>
          <p:cNvSpPr txBox="1"/>
          <p:nvPr>
            <p:ph idx="2" type="body"/>
          </p:nvPr>
        </p:nvSpPr>
        <p:spPr>
          <a:xfrm>
            <a:off x="6421006" y="1152475"/>
            <a:ext cx="279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Horizontal Scaling</a:t>
            </a:r>
            <a:endParaRPr/>
          </a:p>
        </p:txBody>
      </p:sp>
      <p:pic>
        <p:nvPicPr>
          <p:cNvPr id="742" name="Google Shape;74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01" y="2693950"/>
            <a:ext cx="1170275" cy="11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824" y="2146450"/>
            <a:ext cx="1963900" cy="19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307" y="2635300"/>
            <a:ext cx="1170275" cy="11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957" y="1854550"/>
            <a:ext cx="1170275" cy="11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0632" y="3162275"/>
            <a:ext cx="1170275" cy="11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8"/>
          <p:cNvSpPr txBox="1"/>
          <p:nvPr>
            <p:ph type="ctrTitle"/>
          </p:nvPr>
        </p:nvSpPr>
        <p:spPr>
          <a:xfrm>
            <a:off x="930858" y="509600"/>
            <a:ext cx="7282200" cy="1754400"/>
          </a:xfrm>
          <a:prstGeom prst="rect">
            <a:avLst/>
          </a:prstGeom>
        </p:spPr>
        <p:txBody>
          <a:bodyPr anchorCtr="0" anchor="b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44"/>
          </a:p>
        </p:txBody>
      </p:sp>
      <p:sp>
        <p:nvSpPr>
          <p:cNvPr id="752" name="Google Shape;752;p58"/>
          <p:cNvSpPr txBox="1"/>
          <p:nvPr>
            <p:ph idx="1" type="subTitle"/>
          </p:nvPr>
        </p:nvSpPr>
        <p:spPr>
          <a:xfrm>
            <a:off x="930851" y="2295475"/>
            <a:ext cx="7282200" cy="677400"/>
          </a:xfrm>
          <a:prstGeom prst="rect">
            <a:avLst/>
          </a:prstGeom>
        </p:spPr>
        <p:txBody>
          <a:bodyPr anchorCtr="0" anchor="t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3"/>
          </a:p>
        </p:txBody>
      </p:sp>
      <p:pic>
        <p:nvPicPr>
          <p:cNvPr id="753" name="Google Shape;7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50" y="-1"/>
            <a:ext cx="7815095" cy="40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0747" y="9285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6245" y="861397"/>
            <a:ext cx="453637" cy="453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6" name="Google Shape;756;p58"/>
          <p:cNvCxnSpPr>
            <a:stCxn id="754" idx="3"/>
            <a:endCxn id="755" idx="1"/>
          </p:cNvCxnSpPr>
          <p:nvPr/>
        </p:nvCxnSpPr>
        <p:spPr>
          <a:xfrm flipH="1" rot="10800000">
            <a:off x="2494814" y="1088123"/>
            <a:ext cx="71400" cy="225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57" name="Google Shape;757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984" y="1315019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8" name="Google Shape;758;p58"/>
          <p:cNvCxnSpPr>
            <a:stCxn id="755" idx="3"/>
            <a:endCxn id="757" idx="1"/>
          </p:cNvCxnSpPr>
          <p:nvPr/>
        </p:nvCxnSpPr>
        <p:spPr>
          <a:xfrm>
            <a:off x="3019882" y="1088215"/>
            <a:ext cx="3046200" cy="4089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59" name="Google Shape;75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25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40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4550" y="4103450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p58"/>
          <p:cNvCxnSpPr/>
          <p:nvPr/>
        </p:nvCxnSpPr>
        <p:spPr>
          <a:xfrm>
            <a:off x="2247700" y="4362125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58"/>
          <p:cNvCxnSpPr/>
          <p:nvPr/>
        </p:nvCxnSpPr>
        <p:spPr>
          <a:xfrm>
            <a:off x="5195450" y="4342075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58"/>
          <p:cNvCxnSpPr/>
          <p:nvPr/>
        </p:nvCxnSpPr>
        <p:spPr>
          <a:xfrm flipH="1">
            <a:off x="52457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58"/>
          <p:cNvCxnSpPr/>
          <p:nvPr/>
        </p:nvCxnSpPr>
        <p:spPr>
          <a:xfrm flipH="1">
            <a:off x="23029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6" name="Google Shape;766;p58"/>
          <p:cNvSpPr txBox="1"/>
          <p:nvPr/>
        </p:nvSpPr>
        <p:spPr>
          <a:xfrm>
            <a:off x="2476900" y="3953313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5309800" y="4007163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768" name="Google Shape;76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147" y="10809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0609" y="5095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834" y="6619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809" y="442114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2" name="Google Shape;772;p58"/>
          <p:cNvCxnSpPr>
            <a:stCxn id="771" idx="2"/>
            <a:endCxn id="755" idx="3"/>
          </p:cNvCxnSpPr>
          <p:nvPr/>
        </p:nvCxnSpPr>
        <p:spPr>
          <a:xfrm flipH="1">
            <a:off x="3019843" y="806182"/>
            <a:ext cx="14100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9"/>
          <p:cNvSpPr txBox="1"/>
          <p:nvPr>
            <p:ph type="ctrTitle"/>
          </p:nvPr>
        </p:nvSpPr>
        <p:spPr>
          <a:xfrm>
            <a:off x="930858" y="509600"/>
            <a:ext cx="7282200" cy="1754400"/>
          </a:xfrm>
          <a:prstGeom prst="rect">
            <a:avLst/>
          </a:prstGeom>
        </p:spPr>
        <p:txBody>
          <a:bodyPr anchorCtr="0" anchor="b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44"/>
          </a:p>
        </p:txBody>
      </p:sp>
      <p:sp>
        <p:nvSpPr>
          <p:cNvPr id="778" name="Google Shape;778;p59"/>
          <p:cNvSpPr txBox="1"/>
          <p:nvPr>
            <p:ph idx="1" type="subTitle"/>
          </p:nvPr>
        </p:nvSpPr>
        <p:spPr>
          <a:xfrm>
            <a:off x="930851" y="2295475"/>
            <a:ext cx="7282200" cy="677400"/>
          </a:xfrm>
          <a:prstGeom prst="rect">
            <a:avLst/>
          </a:prstGeom>
        </p:spPr>
        <p:txBody>
          <a:bodyPr anchorCtr="0" anchor="t" bIns="78150" lIns="78150" spcFirstLastPara="1" rIns="78150" wrap="square" tIns="781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3"/>
          </a:p>
        </p:txBody>
      </p:sp>
      <p:pic>
        <p:nvPicPr>
          <p:cNvPr id="779" name="Google Shape;7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50" y="-1"/>
            <a:ext cx="7815095" cy="40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0747" y="9285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6245" y="861397"/>
            <a:ext cx="453637" cy="453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2" name="Google Shape;782;p59"/>
          <p:cNvCxnSpPr>
            <a:stCxn id="780" idx="3"/>
            <a:endCxn id="781" idx="1"/>
          </p:cNvCxnSpPr>
          <p:nvPr/>
        </p:nvCxnSpPr>
        <p:spPr>
          <a:xfrm flipH="1" rot="10800000">
            <a:off x="2494814" y="1088123"/>
            <a:ext cx="71400" cy="225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83" name="Google Shape;783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984" y="1315019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4" name="Google Shape;784;p59"/>
          <p:cNvCxnSpPr>
            <a:stCxn id="781" idx="3"/>
            <a:endCxn id="783" idx="1"/>
          </p:cNvCxnSpPr>
          <p:nvPr/>
        </p:nvCxnSpPr>
        <p:spPr>
          <a:xfrm>
            <a:off x="3019882" y="1088215"/>
            <a:ext cx="3046200" cy="408900"/>
          </a:xfrm>
          <a:prstGeom prst="straightConnector1">
            <a:avLst/>
          </a:prstGeom>
          <a:noFill/>
          <a:ln cap="flat" cmpd="sng" w="8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85" name="Google Shape;78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25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400" y="41034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4550" y="4103450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8" name="Google Shape;788;p59"/>
          <p:cNvCxnSpPr/>
          <p:nvPr/>
        </p:nvCxnSpPr>
        <p:spPr>
          <a:xfrm>
            <a:off x="2247700" y="4362125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9" name="Google Shape;789;p59"/>
          <p:cNvCxnSpPr/>
          <p:nvPr/>
        </p:nvCxnSpPr>
        <p:spPr>
          <a:xfrm>
            <a:off x="5195450" y="4342075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59"/>
          <p:cNvCxnSpPr/>
          <p:nvPr/>
        </p:nvCxnSpPr>
        <p:spPr>
          <a:xfrm flipH="1">
            <a:off x="52457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59"/>
          <p:cNvCxnSpPr/>
          <p:nvPr/>
        </p:nvCxnSpPr>
        <p:spPr>
          <a:xfrm flipH="1">
            <a:off x="2302900" y="4773200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2" name="Google Shape;792;p59"/>
          <p:cNvSpPr txBox="1"/>
          <p:nvPr/>
        </p:nvSpPr>
        <p:spPr>
          <a:xfrm>
            <a:off x="2476900" y="3953313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3" name="Google Shape;793;p59"/>
          <p:cNvSpPr txBox="1"/>
          <p:nvPr/>
        </p:nvSpPr>
        <p:spPr>
          <a:xfrm>
            <a:off x="5309800" y="4007163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794" name="Google Shape;79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147" y="10809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0609" y="5095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834" y="661989"/>
            <a:ext cx="364068" cy="36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809" y="442114"/>
            <a:ext cx="364068" cy="364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59"/>
          <p:cNvCxnSpPr>
            <a:stCxn id="797" idx="2"/>
            <a:endCxn id="799" idx="1"/>
          </p:cNvCxnSpPr>
          <p:nvPr/>
        </p:nvCxnSpPr>
        <p:spPr>
          <a:xfrm flipH="1" rot="10800000">
            <a:off x="4429843" y="502882"/>
            <a:ext cx="458100" cy="3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99" name="Google Shape;799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7832" y="276184"/>
            <a:ext cx="453637" cy="453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0" name="Google Shape;800;p59"/>
          <p:cNvCxnSpPr>
            <a:stCxn id="799" idx="3"/>
            <a:endCxn id="783" idx="0"/>
          </p:cNvCxnSpPr>
          <p:nvPr/>
        </p:nvCxnSpPr>
        <p:spPr>
          <a:xfrm>
            <a:off x="5341469" y="503003"/>
            <a:ext cx="906600" cy="8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032" y="1809700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0"/>
          <p:cNvPicPr preferRelativeResize="0"/>
          <p:nvPr/>
        </p:nvPicPr>
        <p:blipFill rotWithShape="1">
          <a:blip r:embed="rId4">
            <a:alphaModFix/>
          </a:blip>
          <a:srcRect b="20762" l="6244" r="5190" t="12438"/>
          <a:stretch/>
        </p:blipFill>
        <p:spPr>
          <a:xfrm>
            <a:off x="45375" y="136075"/>
            <a:ext cx="7431675" cy="467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37" y="109450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884" y="244410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4438" y="7620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414" y="94551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126" y="380241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989" y="1704514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648" y="2163557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6023" y="2864807"/>
            <a:ext cx="797800" cy="7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5" name="Google Shape;815;p60"/>
          <p:cNvCxnSpPr>
            <a:stCxn id="813" idx="3"/>
            <a:endCxn id="814" idx="1"/>
          </p:cNvCxnSpPr>
          <p:nvPr/>
        </p:nvCxnSpPr>
        <p:spPr>
          <a:xfrm>
            <a:off x="3528474" y="2471970"/>
            <a:ext cx="4487400" cy="79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16" name="Google Shape;81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5513" y="330739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113" y="26702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888" y="326357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2963" y="99712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5363" y="29391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6263" y="1704523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9476" y="2939148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2551" y="115913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788" y="15895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788" y="4504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7763" y="327135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238" y="30863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238" y="194906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4476" y="2564110"/>
            <a:ext cx="495036" cy="49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798" y="1704407"/>
            <a:ext cx="616826" cy="6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523" y="2383220"/>
            <a:ext cx="616826" cy="61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 (Handle more QPS) — avoid server bottleneck</a:t>
            </a:r>
            <a:endParaRPr/>
          </a:p>
        </p:txBody>
      </p:sp>
      <p:pic>
        <p:nvPicPr>
          <p:cNvPr id="837" name="Google Shape;83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63" y="1476649"/>
            <a:ext cx="8056074" cy="34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Balancer</a:t>
            </a:r>
            <a:endParaRPr/>
          </a:p>
        </p:txBody>
      </p:sp>
      <p:sp>
        <p:nvSpPr>
          <p:cNvPr id="843" name="Google Shape;843;p62"/>
          <p:cNvSpPr txBox="1"/>
          <p:nvPr>
            <p:ph idx="1" type="body"/>
          </p:nvPr>
        </p:nvSpPr>
        <p:spPr>
          <a:xfrm>
            <a:off x="311700" y="1152475"/>
            <a:ext cx="457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Allows you to redirect traffic to multiple instances… part of target group.</a:t>
            </a:r>
            <a:endParaRPr/>
          </a:p>
        </p:txBody>
      </p:sp>
      <p:pic>
        <p:nvPicPr>
          <p:cNvPr id="844" name="Google Shape;84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675" y="0"/>
            <a:ext cx="4039300" cy="233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2"/>
          <p:cNvPicPr preferRelativeResize="0"/>
          <p:nvPr/>
        </p:nvPicPr>
        <p:blipFill rotWithShape="1">
          <a:blip r:embed="rId4">
            <a:alphaModFix/>
          </a:blip>
          <a:srcRect b="0" l="9614" r="21368" t="0"/>
          <a:stretch/>
        </p:blipFill>
        <p:spPr>
          <a:xfrm>
            <a:off x="160800" y="2233275"/>
            <a:ext cx="4411200" cy="28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6100" y="2420282"/>
            <a:ext cx="4219612" cy="245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Scalability issue</a:t>
            </a:r>
            <a:endParaRPr/>
          </a:p>
        </p:txBody>
      </p:sp>
      <p:pic>
        <p:nvPicPr>
          <p:cNvPr id="852" name="Google Shape;85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2475" y="321042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5" name="Google Shape;855;p63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63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63"/>
          <p:cNvCxnSpPr/>
          <p:nvPr/>
        </p:nvCxnSpPr>
        <p:spPr>
          <a:xfrm flipH="1">
            <a:off x="51436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63"/>
          <p:cNvCxnSpPr/>
          <p:nvPr/>
        </p:nvCxnSpPr>
        <p:spPr>
          <a:xfrm flipH="1">
            <a:off x="2200825" y="388017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9" name="Google Shape;859;p63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0" name="Google Shape;860;p63"/>
          <p:cNvSpPr txBox="1"/>
          <p:nvPr/>
        </p:nvSpPr>
        <p:spPr>
          <a:xfrm>
            <a:off x="5207725" y="3114138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  <p:graphicFrame>
        <p:nvGraphicFramePr>
          <p:cNvPr id="861" name="Google Shape;861;p63"/>
          <p:cNvGraphicFramePr/>
          <p:nvPr/>
        </p:nvGraphicFramePr>
        <p:xfrm>
          <a:off x="7158875" y="190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Scalability issue</a:t>
            </a:r>
            <a:endParaRPr/>
          </a:p>
        </p:txBody>
      </p:sp>
      <p:pic>
        <p:nvPicPr>
          <p:cNvPr id="867" name="Google Shape;86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625" y="293827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0" name="Google Shape;870;p64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1" name="Google Shape;871;p64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2" name="Google Shape;872;p64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POST /incr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73" name="Google Shape;873;p64"/>
          <p:cNvGraphicFramePr/>
          <p:nvPr/>
        </p:nvGraphicFramePr>
        <p:xfrm>
          <a:off x="7158875" y="190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pic>
        <p:nvPicPr>
          <p:cNvPr id="874" name="Google Shape;87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000" y="17423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225" y="1637825"/>
            <a:ext cx="952500" cy="95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6" name="Google Shape;876;p64"/>
          <p:cNvCxnSpPr>
            <a:endCxn id="875" idx="1"/>
          </p:cNvCxnSpPr>
          <p:nvPr/>
        </p:nvCxnSpPr>
        <p:spPr>
          <a:xfrm flipH="1" rot="10800000">
            <a:off x="2094625" y="2114075"/>
            <a:ext cx="21606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64"/>
          <p:cNvCxnSpPr>
            <a:stCxn id="875" idx="3"/>
          </p:cNvCxnSpPr>
          <p:nvPr/>
        </p:nvCxnSpPr>
        <p:spPr>
          <a:xfrm>
            <a:off x="5207725" y="2114075"/>
            <a:ext cx="1979400" cy="12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64"/>
          <p:cNvSpPr txBox="1"/>
          <p:nvPr/>
        </p:nvSpPr>
        <p:spPr>
          <a:xfrm>
            <a:off x="2440650" y="174713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POST /incr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9" name="Google Shape;879;p64"/>
          <p:cNvSpPr/>
          <p:nvPr/>
        </p:nvSpPr>
        <p:spPr>
          <a:xfrm>
            <a:off x="4044925" y="1113300"/>
            <a:ext cx="1373100" cy="3612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Scalability issue</a:t>
            </a:r>
            <a:endParaRPr/>
          </a:p>
        </p:txBody>
      </p:sp>
      <p:pic>
        <p:nvPicPr>
          <p:cNvPr id="885" name="Google Shape;88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625" y="293827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8" name="Google Shape;888;p65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65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0" name="Google Shape;890;p65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/incr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91" name="Google Shape;891;p65"/>
          <p:cNvGraphicFramePr/>
          <p:nvPr/>
        </p:nvGraphicFramePr>
        <p:xfrm>
          <a:off x="7187125" y="39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pic>
        <p:nvPicPr>
          <p:cNvPr id="892" name="Google Shape;89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000" y="17423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225" y="1637825"/>
            <a:ext cx="952500" cy="95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65"/>
          <p:cNvCxnSpPr>
            <a:endCxn id="893" idx="1"/>
          </p:cNvCxnSpPr>
          <p:nvPr/>
        </p:nvCxnSpPr>
        <p:spPr>
          <a:xfrm flipH="1" rot="10800000">
            <a:off x="2094625" y="2114075"/>
            <a:ext cx="21606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5" name="Google Shape;895;p65"/>
          <p:cNvCxnSpPr>
            <a:stCxn id="896" idx="2"/>
          </p:cNvCxnSpPr>
          <p:nvPr/>
        </p:nvCxnSpPr>
        <p:spPr>
          <a:xfrm>
            <a:off x="5078400" y="2208838"/>
            <a:ext cx="2108700" cy="11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6" name="Google Shape;896;p65"/>
          <p:cNvSpPr txBox="1"/>
          <p:nvPr/>
        </p:nvSpPr>
        <p:spPr>
          <a:xfrm>
            <a:off x="2440650" y="174713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POST /incr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7" name="Google Shape;89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5775" y="255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150" y="1145775"/>
            <a:ext cx="870275" cy="870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9" name="Google Shape;899;p65"/>
          <p:cNvGraphicFramePr/>
          <p:nvPr/>
        </p:nvGraphicFramePr>
        <p:xfrm>
          <a:off x="7158875" y="25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900" name="Google Shape;900;p65"/>
          <p:cNvCxnSpPr>
            <a:stCxn id="896" idx="2"/>
            <a:endCxn id="898" idx="1"/>
          </p:cNvCxnSpPr>
          <p:nvPr/>
        </p:nvCxnSpPr>
        <p:spPr>
          <a:xfrm flipH="1" rot="10800000">
            <a:off x="5078400" y="1580938"/>
            <a:ext cx="2637600" cy="6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1" name="Google Shape;901;p65"/>
          <p:cNvCxnSpPr>
            <a:stCxn id="897" idx="3"/>
            <a:endCxn id="898" idx="1"/>
          </p:cNvCxnSpPr>
          <p:nvPr/>
        </p:nvCxnSpPr>
        <p:spPr>
          <a:xfrm>
            <a:off x="5298275" y="731375"/>
            <a:ext cx="2418000" cy="8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65"/>
          <p:cNvCxnSpPr>
            <a:stCxn id="890" idx="2"/>
            <a:endCxn id="898" idx="1"/>
          </p:cNvCxnSpPr>
          <p:nvPr/>
        </p:nvCxnSpPr>
        <p:spPr>
          <a:xfrm flipH="1" rot="10800000">
            <a:off x="5012575" y="1580988"/>
            <a:ext cx="2703600" cy="19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 — scale increments without one-row bottleneck</a:t>
            </a:r>
            <a:endParaRPr/>
          </a:p>
        </p:txBody>
      </p:sp>
      <p:pic>
        <p:nvPicPr>
          <p:cNvPr id="908" name="Google Shape;90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40016"/>
            <a:ext cx="9144003" cy="1509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Next, Availability issue…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4" name="Google Shape;91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3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625" y="293827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67"/>
          <p:cNvCxnSpPr/>
          <p:nvPr/>
        </p:nvCxnSpPr>
        <p:spPr>
          <a:xfrm>
            <a:off x="2145625" y="346910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8" name="Google Shape;918;p67"/>
          <p:cNvCxnSpPr/>
          <p:nvPr/>
        </p:nvCxnSpPr>
        <p:spPr>
          <a:xfrm>
            <a:off x="5093375" y="344905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9" name="Google Shape;919;p67"/>
          <p:cNvSpPr txBox="1"/>
          <p:nvPr/>
        </p:nvSpPr>
        <p:spPr>
          <a:xfrm>
            <a:off x="2374825" y="306028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/incr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920" name="Google Shape;920;p67"/>
          <p:cNvGraphicFramePr/>
          <p:nvPr/>
        </p:nvGraphicFramePr>
        <p:xfrm>
          <a:off x="7187125" y="39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pic>
        <p:nvPicPr>
          <p:cNvPr id="921" name="Google Shape;92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000" y="17423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225" y="1637825"/>
            <a:ext cx="952500" cy="95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3" name="Google Shape;923;p67"/>
          <p:cNvCxnSpPr>
            <a:endCxn id="922" idx="1"/>
          </p:cNvCxnSpPr>
          <p:nvPr/>
        </p:nvCxnSpPr>
        <p:spPr>
          <a:xfrm flipH="1" rot="10800000">
            <a:off x="2094625" y="2114075"/>
            <a:ext cx="21606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67"/>
          <p:cNvCxnSpPr>
            <a:stCxn id="925" idx="2"/>
          </p:cNvCxnSpPr>
          <p:nvPr/>
        </p:nvCxnSpPr>
        <p:spPr>
          <a:xfrm>
            <a:off x="5078400" y="2208838"/>
            <a:ext cx="2108700" cy="11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67"/>
          <p:cNvSpPr txBox="1"/>
          <p:nvPr/>
        </p:nvSpPr>
        <p:spPr>
          <a:xfrm>
            <a:off x="2440650" y="174713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POST /incr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6" name="Google Shape;92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5775" y="255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150" y="1145775"/>
            <a:ext cx="870275" cy="870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8" name="Google Shape;928;p67"/>
          <p:cNvGraphicFramePr/>
          <p:nvPr/>
        </p:nvGraphicFramePr>
        <p:xfrm>
          <a:off x="7158875" y="25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929" name="Google Shape;929;p67"/>
          <p:cNvCxnSpPr>
            <a:stCxn id="925" idx="2"/>
            <a:endCxn id="927" idx="1"/>
          </p:cNvCxnSpPr>
          <p:nvPr/>
        </p:nvCxnSpPr>
        <p:spPr>
          <a:xfrm flipH="1" rot="10800000">
            <a:off x="5078400" y="1580938"/>
            <a:ext cx="2637600" cy="6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67"/>
          <p:cNvCxnSpPr>
            <a:stCxn id="926" idx="3"/>
            <a:endCxn id="927" idx="1"/>
          </p:cNvCxnSpPr>
          <p:nvPr/>
        </p:nvCxnSpPr>
        <p:spPr>
          <a:xfrm>
            <a:off x="5298275" y="731375"/>
            <a:ext cx="2418000" cy="8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1" name="Google Shape;931;p67"/>
          <p:cNvCxnSpPr>
            <a:stCxn id="919" idx="2"/>
            <a:endCxn id="927" idx="1"/>
          </p:cNvCxnSpPr>
          <p:nvPr/>
        </p:nvCxnSpPr>
        <p:spPr>
          <a:xfrm flipH="1" rot="10800000">
            <a:off x="5012575" y="1580988"/>
            <a:ext cx="2703600" cy="19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2" name="Google Shape;932;p67"/>
          <p:cNvCxnSpPr/>
          <p:nvPr/>
        </p:nvCxnSpPr>
        <p:spPr>
          <a:xfrm>
            <a:off x="7483925" y="531925"/>
            <a:ext cx="1175100" cy="15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67"/>
          <p:cNvCxnSpPr>
            <a:stCxn id="913" idx="3"/>
          </p:cNvCxnSpPr>
          <p:nvPr/>
        </p:nvCxnSpPr>
        <p:spPr>
          <a:xfrm flipH="1">
            <a:off x="7347900" y="731375"/>
            <a:ext cx="1484400" cy="140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Availability issue…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900" y="33275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625" y="2938275"/>
            <a:ext cx="870275" cy="870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2" name="Google Shape;942;p68"/>
          <p:cNvGraphicFramePr/>
          <p:nvPr/>
        </p:nvGraphicFramePr>
        <p:xfrm>
          <a:off x="7187125" y="39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pic>
        <p:nvPicPr>
          <p:cNvPr id="943" name="Google Shape;94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50" y="17423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000" y="16378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000" y="255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150" y="1145775"/>
            <a:ext cx="870275" cy="870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7" name="Google Shape;947;p68"/>
          <p:cNvGraphicFramePr/>
          <p:nvPr/>
        </p:nvGraphicFramePr>
        <p:xfrm>
          <a:off x="7158875" y="25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pSp>
        <p:nvGrpSpPr>
          <p:cNvPr id="948" name="Google Shape;948;p68"/>
          <p:cNvGrpSpPr/>
          <p:nvPr/>
        </p:nvGrpSpPr>
        <p:grpSpPr>
          <a:xfrm>
            <a:off x="4661225" y="1404900"/>
            <a:ext cx="1484400" cy="1608250"/>
            <a:chOff x="7347900" y="531925"/>
            <a:chExt cx="1484400" cy="1608250"/>
          </a:xfrm>
        </p:grpSpPr>
        <p:cxnSp>
          <p:nvCxnSpPr>
            <p:cNvPr id="949" name="Google Shape;949;p68"/>
            <p:cNvCxnSpPr/>
            <p:nvPr/>
          </p:nvCxnSpPr>
          <p:spPr>
            <a:xfrm>
              <a:off x="7483925" y="531925"/>
              <a:ext cx="1175100" cy="15957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0" name="Google Shape;950;p68"/>
            <p:cNvCxnSpPr/>
            <p:nvPr/>
          </p:nvCxnSpPr>
          <p:spPr>
            <a:xfrm flipH="1">
              <a:off x="7347900" y="731375"/>
              <a:ext cx="1484400" cy="1408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51" name="Google Shape;951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7987" y="2183000"/>
            <a:ext cx="870275" cy="1378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2" name="Google Shape;952;p68"/>
          <p:cNvCxnSpPr>
            <a:stCxn id="943" idx="3"/>
            <a:endCxn id="951" idx="1"/>
          </p:cNvCxnSpPr>
          <p:nvPr/>
        </p:nvCxnSpPr>
        <p:spPr>
          <a:xfrm>
            <a:off x="1117250" y="2218600"/>
            <a:ext cx="1430700" cy="6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68"/>
          <p:cNvCxnSpPr>
            <a:stCxn id="939" idx="3"/>
            <a:endCxn id="951" idx="1"/>
          </p:cNvCxnSpPr>
          <p:nvPr/>
        </p:nvCxnSpPr>
        <p:spPr>
          <a:xfrm flipH="1" rot="10800000">
            <a:off x="1051425" y="2872175"/>
            <a:ext cx="14967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68"/>
          <p:cNvCxnSpPr>
            <a:stCxn id="951" idx="3"/>
            <a:endCxn id="945" idx="1"/>
          </p:cNvCxnSpPr>
          <p:nvPr/>
        </p:nvCxnSpPr>
        <p:spPr>
          <a:xfrm flipH="1" rot="10800000">
            <a:off x="3418263" y="731387"/>
            <a:ext cx="1430700" cy="21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5" name="Google Shape;955;p68"/>
          <p:cNvCxnSpPr>
            <a:stCxn id="951" idx="3"/>
            <a:endCxn id="944" idx="1"/>
          </p:cNvCxnSpPr>
          <p:nvPr/>
        </p:nvCxnSpPr>
        <p:spPr>
          <a:xfrm flipH="1" rot="10800000">
            <a:off x="3418263" y="2114087"/>
            <a:ext cx="1430700" cy="7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6" name="Google Shape;956;p68"/>
          <p:cNvCxnSpPr>
            <a:stCxn id="951" idx="3"/>
            <a:endCxn id="940" idx="1"/>
          </p:cNvCxnSpPr>
          <p:nvPr/>
        </p:nvCxnSpPr>
        <p:spPr>
          <a:xfrm>
            <a:off x="3418263" y="2872187"/>
            <a:ext cx="1322700" cy="9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7" name="Google Shape;957;p68"/>
          <p:cNvCxnSpPr>
            <a:stCxn id="945" idx="3"/>
            <a:endCxn id="946" idx="1"/>
          </p:cNvCxnSpPr>
          <p:nvPr/>
        </p:nvCxnSpPr>
        <p:spPr>
          <a:xfrm>
            <a:off x="5801500" y="731375"/>
            <a:ext cx="1914600" cy="8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8" name="Google Shape;958;p68"/>
          <p:cNvCxnSpPr>
            <a:stCxn id="940" idx="3"/>
            <a:endCxn id="946" idx="1"/>
          </p:cNvCxnSpPr>
          <p:nvPr/>
        </p:nvCxnSpPr>
        <p:spPr>
          <a:xfrm flipH="1" rot="10800000">
            <a:off x="5693400" y="1580800"/>
            <a:ext cx="2022900" cy="22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9" name="Google Shape;959;p68"/>
          <p:cNvCxnSpPr>
            <a:stCxn id="940" idx="3"/>
            <a:endCxn id="941" idx="1"/>
          </p:cNvCxnSpPr>
          <p:nvPr/>
        </p:nvCxnSpPr>
        <p:spPr>
          <a:xfrm flipH="1" rot="10800000">
            <a:off x="5693400" y="3373300"/>
            <a:ext cx="1517100" cy="4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Healthcheck Concept</a:t>
            </a:r>
            <a:endParaRPr/>
          </a:p>
        </p:txBody>
      </p:sp>
      <p:pic>
        <p:nvPicPr>
          <p:cNvPr id="965" name="Google Shape;965;p69"/>
          <p:cNvPicPr preferRelativeResize="0"/>
          <p:nvPr/>
        </p:nvPicPr>
        <p:blipFill rotWithShape="1">
          <a:blip r:embed="rId3">
            <a:alphaModFix/>
          </a:blip>
          <a:srcRect b="0" l="25772" r="0" t="3363"/>
          <a:stretch/>
        </p:blipFill>
        <p:spPr>
          <a:xfrm>
            <a:off x="5588850" y="173200"/>
            <a:ext cx="3243450" cy="273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52190"/>
            <a:ext cx="9144003" cy="1991321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69"/>
          <p:cNvSpPr txBox="1"/>
          <p:nvPr/>
        </p:nvSpPr>
        <p:spPr>
          <a:xfrm>
            <a:off x="1138050" y="1397825"/>
            <a:ext cx="63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8" name="Google Shape;968;p69"/>
          <p:cNvSpPr txBox="1"/>
          <p:nvPr/>
        </p:nvSpPr>
        <p:spPr>
          <a:xfrm>
            <a:off x="544300" y="1608125"/>
            <a:ext cx="639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LB can keep checking and move traffic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away from unhealthy instances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Availability issue…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4" name="Google Shape;97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25" y="32104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900" y="33275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625" y="2938275"/>
            <a:ext cx="870275" cy="870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7" name="Google Shape;977;p70"/>
          <p:cNvGraphicFramePr/>
          <p:nvPr/>
        </p:nvGraphicFramePr>
        <p:xfrm>
          <a:off x="7187125" y="39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pic>
        <p:nvPicPr>
          <p:cNvPr id="978" name="Google Shape;97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50" y="17423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000" y="16378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000" y="255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6150" y="1145775"/>
            <a:ext cx="870275" cy="870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2" name="Google Shape;982;p70"/>
          <p:cNvGraphicFramePr/>
          <p:nvPr/>
        </p:nvGraphicFramePr>
        <p:xfrm>
          <a:off x="7158875" y="25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{42262BDE-048F-422A-8D22-0CFCC54F572E}</a:tableStyleId>
              </a:tblPr>
              <a:tblGrid>
                <a:gridCol w="154872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pSp>
        <p:nvGrpSpPr>
          <p:cNvPr id="983" name="Google Shape;983;p70"/>
          <p:cNvGrpSpPr/>
          <p:nvPr/>
        </p:nvGrpSpPr>
        <p:grpSpPr>
          <a:xfrm>
            <a:off x="4661225" y="1404900"/>
            <a:ext cx="1484400" cy="1608250"/>
            <a:chOff x="7347900" y="531925"/>
            <a:chExt cx="1484400" cy="1608250"/>
          </a:xfrm>
        </p:grpSpPr>
        <p:cxnSp>
          <p:nvCxnSpPr>
            <p:cNvPr id="984" name="Google Shape;984;p70"/>
            <p:cNvCxnSpPr/>
            <p:nvPr/>
          </p:nvCxnSpPr>
          <p:spPr>
            <a:xfrm>
              <a:off x="7483925" y="531925"/>
              <a:ext cx="1175100" cy="15957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5" name="Google Shape;985;p70"/>
            <p:cNvCxnSpPr/>
            <p:nvPr/>
          </p:nvCxnSpPr>
          <p:spPr>
            <a:xfrm flipH="1">
              <a:off x="7347900" y="731375"/>
              <a:ext cx="1484400" cy="1408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86" name="Google Shape;986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7987" y="2183000"/>
            <a:ext cx="870275" cy="1378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7" name="Google Shape;987;p70"/>
          <p:cNvCxnSpPr>
            <a:stCxn id="978" idx="3"/>
            <a:endCxn id="986" idx="1"/>
          </p:cNvCxnSpPr>
          <p:nvPr/>
        </p:nvCxnSpPr>
        <p:spPr>
          <a:xfrm>
            <a:off x="1117250" y="2218600"/>
            <a:ext cx="1430700" cy="6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70"/>
          <p:cNvCxnSpPr>
            <a:stCxn id="974" idx="3"/>
            <a:endCxn id="986" idx="1"/>
          </p:cNvCxnSpPr>
          <p:nvPr/>
        </p:nvCxnSpPr>
        <p:spPr>
          <a:xfrm flipH="1" rot="10800000">
            <a:off x="1051425" y="2872175"/>
            <a:ext cx="14967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70"/>
          <p:cNvCxnSpPr>
            <a:stCxn id="986" idx="3"/>
            <a:endCxn id="980" idx="1"/>
          </p:cNvCxnSpPr>
          <p:nvPr/>
        </p:nvCxnSpPr>
        <p:spPr>
          <a:xfrm flipH="1" rot="10800000">
            <a:off x="3418263" y="731387"/>
            <a:ext cx="1430700" cy="21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70"/>
          <p:cNvCxnSpPr>
            <a:stCxn id="986" idx="3"/>
            <a:endCxn id="979" idx="1"/>
          </p:cNvCxnSpPr>
          <p:nvPr/>
        </p:nvCxnSpPr>
        <p:spPr>
          <a:xfrm flipH="1" rot="10800000">
            <a:off x="3418263" y="2114087"/>
            <a:ext cx="1430700" cy="7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1" name="Google Shape;991;p70"/>
          <p:cNvCxnSpPr>
            <a:stCxn id="986" idx="3"/>
            <a:endCxn id="975" idx="1"/>
          </p:cNvCxnSpPr>
          <p:nvPr/>
        </p:nvCxnSpPr>
        <p:spPr>
          <a:xfrm>
            <a:off x="3418263" y="2872187"/>
            <a:ext cx="1322700" cy="9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70"/>
          <p:cNvCxnSpPr>
            <a:stCxn id="980" idx="3"/>
            <a:endCxn id="981" idx="1"/>
          </p:cNvCxnSpPr>
          <p:nvPr/>
        </p:nvCxnSpPr>
        <p:spPr>
          <a:xfrm>
            <a:off x="5801500" y="731375"/>
            <a:ext cx="1914600" cy="8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70"/>
          <p:cNvCxnSpPr>
            <a:stCxn id="975" idx="3"/>
            <a:endCxn id="981" idx="1"/>
          </p:cNvCxnSpPr>
          <p:nvPr/>
        </p:nvCxnSpPr>
        <p:spPr>
          <a:xfrm flipH="1" rot="10800000">
            <a:off x="5693400" y="1580800"/>
            <a:ext cx="2022900" cy="22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70"/>
          <p:cNvCxnSpPr>
            <a:stCxn id="975" idx="3"/>
            <a:endCxn id="976" idx="1"/>
          </p:cNvCxnSpPr>
          <p:nvPr/>
        </p:nvCxnSpPr>
        <p:spPr>
          <a:xfrm flipH="1" rot="10800000">
            <a:off x="5693400" y="3373300"/>
            <a:ext cx="1517100" cy="4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95" name="Google Shape;995;p70"/>
          <p:cNvGrpSpPr/>
          <p:nvPr/>
        </p:nvGrpSpPr>
        <p:grpSpPr>
          <a:xfrm>
            <a:off x="7219288" y="505825"/>
            <a:ext cx="1484400" cy="1608250"/>
            <a:chOff x="7347900" y="531925"/>
            <a:chExt cx="1484400" cy="1608250"/>
          </a:xfrm>
        </p:grpSpPr>
        <p:cxnSp>
          <p:nvCxnSpPr>
            <p:cNvPr id="996" name="Google Shape;996;p70"/>
            <p:cNvCxnSpPr/>
            <p:nvPr/>
          </p:nvCxnSpPr>
          <p:spPr>
            <a:xfrm>
              <a:off x="7483925" y="531925"/>
              <a:ext cx="1175100" cy="15957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70"/>
            <p:cNvCxnSpPr/>
            <p:nvPr/>
          </p:nvCxnSpPr>
          <p:spPr>
            <a:xfrm flipH="1">
              <a:off x="7347900" y="731375"/>
              <a:ext cx="1484400" cy="1408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(Uptime) — keep serving even if DB fails</a:t>
            </a:r>
            <a:endParaRPr/>
          </a:p>
        </p:txBody>
      </p:sp>
      <p:pic>
        <p:nvPicPr>
          <p:cNvPr id="1003" name="Google Shape;100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1263"/>
            <a:ext cx="9144003" cy="300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Issue …</a:t>
            </a:r>
            <a:endParaRPr/>
          </a:p>
        </p:txBody>
      </p:sp>
      <p:pic>
        <p:nvPicPr>
          <p:cNvPr id="1009" name="Google Shape;100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025" y="445036"/>
            <a:ext cx="4096374" cy="295058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0" name="Google Shape;101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775" y="39849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925" y="39849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8075" y="3984975"/>
            <a:ext cx="870275" cy="8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3" name="Google Shape;1013;p72"/>
          <p:cNvCxnSpPr/>
          <p:nvPr/>
        </p:nvCxnSpPr>
        <p:spPr>
          <a:xfrm>
            <a:off x="1851225" y="4243650"/>
            <a:ext cx="20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72"/>
          <p:cNvCxnSpPr/>
          <p:nvPr/>
        </p:nvCxnSpPr>
        <p:spPr>
          <a:xfrm>
            <a:off x="4798975" y="4223600"/>
            <a:ext cx="20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5" name="Google Shape;1015;p72"/>
          <p:cNvCxnSpPr/>
          <p:nvPr/>
        </p:nvCxnSpPr>
        <p:spPr>
          <a:xfrm flipH="1">
            <a:off x="4849225" y="465472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72"/>
          <p:cNvCxnSpPr/>
          <p:nvPr/>
        </p:nvCxnSpPr>
        <p:spPr>
          <a:xfrm flipH="1">
            <a:off x="1906425" y="4654725"/>
            <a:ext cx="1944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7" name="Google Shape;1017;p72"/>
          <p:cNvSpPr txBox="1"/>
          <p:nvPr/>
        </p:nvSpPr>
        <p:spPr>
          <a:xfrm>
            <a:off x="2080425" y="3834838"/>
            <a:ext cx="52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GET /counter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8" name="Google Shape;1018;p72"/>
          <p:cNvSpPr txBox="1"/>
          <p:nvPr/>
        </p:nvSpPr>
        <p:spPr>
          <a:xfrm>
            <a:off x="4913325" y="3888688"/>
            <a:ext cx="52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SELECT * from COUNTER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(Retries) — Idempotency Key Store</a:t>
            </a:r>
            <a:endParaRPr/>
          </a:p>
        </p:txBody>
      </p:sp>
      <p:pic>
        <p:nvPicPr>
          <p:cNvPr id="1024" name="Google Shape;102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59884"/>
            <a:ext cx="9144003" cy="265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- Strong</a:t>
            </a:r>
            <a:endParaRPr/>
          </a:p>
        </p:txBody>
      </p:sp>
      <p:pic>
        <p:nvPicPr>
          <p:cNvPr id="1030" name="Google Shape;103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25" y="1220161"/>
            <a:ext cx="4096374" cy="295058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1" name="Google Shape;10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625" y="2571750"/>
            <a:ext cx="2809048" cy="20233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2" name="Google Shape;103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1175" y="345854"/>
            <a:ext cx="2675926" cy="1927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Consistency - Option A (Strong Consistency: Read Primary)</a:t>
            </a:r>
            <a:endParaRPr sz="2420"/>
          </a:p>
        </p:txBody>
      </p:sp>
      <p:pic>
        <p:nvPicPr>
          <p:cNvPr id="1038" name="Google Shape;103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23889"/>
            <a:ext cx="9144003" cy="1495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- Eventual</a:t>
            </a:r>
            <a:endParaRPr/>
          </a:p>
        </p:txBody>
      </p:sp>
      <p:pic>
        <p:nvPicPr>
          <p:cNvPr id="1044" name="Google Shape;104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25" y="1220161"/>
            <a:ext cx="4096374" cy="295058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5" name="Google Shape;104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625" y="2571750"/>
            <a:ext cx="2809048" cy="20233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6" name="Google Shape;104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000" y="345854"/>
            <a:ext cx="2675926" cy="1927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7" name="Google Shape;104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1625" y="2585665"/>
            <a:ext cx="344375" cy="4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76"/>
          <p:cNvSpPr txBox="1"/>
          <p:nvPr/>
        </p:nvSpPr>
        <p:spPr>
          <a:xfrm>
            <a:off x="2351613" y="2495350"/>
            <a:ext cx="3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56CFF"/>
                </a:solidFill>
              </a:rPr>
              <a:t>3</a:t>
            </a:r>
            <a:endParaRPr b="1" sz="3800">
              <a:solidFill>
                <a:srgbClr val="656C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B (Eventual Consistency: Async updates)</a:t>
            </a:r>
            <a:endParaRPr/>
          </a:p>
        </p:txBody>
      </p:sp>
      <p:pic>
        <p:nvPicPr>
          <p:cNvPr id="1054" name="Google Shape;105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4867"/>
            <a:ext cx="9144003" cy="1553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 — Durable Queue as Commit Point</a:t>
            </a:r>
            <a:endParaRPr/>
          </a:p>
        </p:txBody>
      </p:sp>
      <p:pic>
        <p:nvPicPr>
          <p:cNvPr id="1060" name="Google Shape;106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99054"/>
            <a:ext cx="9144003" cy="79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93780"/>
            <a:ext cx="9144003" cy="1553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2" name="Google Shape;1062;p78"/>
          <p:cNvCxnSpPr/>
          <p:nvPr/>
        </p:nvCxnSpPr>
        <p:spPr>
          <a:xfrm>
            <a:off x="3936225" y="1491875"/>
            <a:ext cx="1124700" cy="89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78"/>
          <p:cNvCxnSpPr/>
          <p:nvPr/>
        </p:nvCxnSpPr>
        <p:spPr>
          <a:xfrm flipH="1" rot="10800000">
            <a:off x="3936225" y="1514725"/>
            <a:ext cx="1067400" cy="665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Google Shape;1068;p79"/>
          <p:cNvPicPr preferRelativeResize="0"/>
          <p:nvPr/>
        </p:nvPicPr>
        <p:blipFill rotWithShape="1">
          <a:blip r:embed="rId3">
            <a:alphaModFix/>
          </a:blip>
          <a:srcRect b="0" l="0" r="3948" t="0"/>
          <a:stretch/>
        </p:blipFill>
        <p:spPr>
          <a:xfrm>
            <a:off x="1437413" y="1657115"/>
            <a:ext cx="6269174" cy="367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1313" y="259765"/>
            <a:ext cx="2144775" cy="16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5438" y="412165"/>
            <a:ext cx="1313100" cy="13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2041" y="627694"/>
            <a:ext cx="2094551" cy="903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— API Gateway (Auth + Rate Limit)</a:t>
            </a:r>
            <a:endParaRPr/>
          </a:p>
        </p:txBody>
      </p:sp>
      <p:pic>
        <p:nvPicPr>
          <p:cNvPr id="1077" name="Google Shape;107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2587"/>
            <a:ext cx="9144003" cy="126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80"/>
          <p:cNvSpPr txBox="1"/>
          <p:nvPr/>
        </p:nvSpPr>
        <p:spPr>
          <a:xfrm>
            <a:off x="623400" y="2651000"/>
            <a:ext cx="8520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Authentication &amp; Authorization</a:t>
            </a:r>
            <a:r>
              <a:rPr lang="en" sz="1100">
                <a:solidFill>
                  <a:schemeClr val="dk1"/>
                </a:solidFill>
              </a:rPr>
              <a:t> – verify identity (JWT/API key/OAuth) and enforce permissions.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Rate Limiting / Throttling</a:t>
            </a:r>
            <a:r>
              <a:rPr lang="en" sz="1100">
                <a:solidFill>
                  <a:schemeClr val="dk1"/>
                </a:solidFill>
              </a:rPr>
              <a:t> – control traffic per user/IP/API to prevent abuse and overload.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Load Balancing / Routing</a:t>
            </a:r>
            <a:r>
              <a:rPr lang="en" sz="1100">
                <a:solidFill>
                  <a:schemeClr val="dk1"/>
                </a:solidFill>
              </a:rPr>
              <a:t> – route requests to the right service/instance; distribute load; health checks.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Caching</a:t>
            </a:r>
            <a:r>
              <a:rPr lang="en" sz="1100">
                <a:solidFill>
                  <a:schemeClr val="dk1"/>
                </a:solidFill>
              </a:rPr>
              <a:t> – cache common responses to reduce latency and backend load.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Request / Response Transformation</a:t>
            </a:r>
            <a:r>
              <a:rPr lang="en" sz="1100">
                <a:solidFill>
                  <a:schemeClr val="dk1"/>
                </a:solidFill>
              </a:rPr>
              <a:t> – rewrite paths/headers, validate schemas, convert formats (JSON ↔ XML), add/remove fields.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Service Discovery Integration</a:t>
            </a:r>
            <a:r>
              <a:rPr lang="en" sz="1100">
                <a:solidFill>
                  <a:schemeClr val="dk1"/>
                </a:solidFill>
              </a:rPr>
              <a:t> – find live service instances dynamically (especially in microservices/Kubernetes).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Circuit Breaking / Timeouts / Retries</a:t>
            </a:r>
            <a:r>
              <a:rPr lang="en" sz="1100">
                <a:solidFill>
                  <a:schemeClr val="dk1"/>
                </a:solidFill>
              </a:rPr>
              <a:t> – stop calling failing services, fail fast, and avoid cascading failures.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Observability 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Metrics, Logs, Tracing</a:t>
            </a:r>
            <a:endParaRPr/>
          </a:p>
        </p:txBody>
      </p:sp>
      <p:pic>
        <p:nvPicPr>
          <p:cNvPr id="1084" name="Google Shape;108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75" y="1446750"/>
            <a:ext cx="6553301" cy="369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663" y="346375"/>
            <a:ext cx="3609626" cy="231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Maintainability / Operability — CI/CD + Feature Flags</a:t>
            </a:r>
            <a:endParaRPr/>
          </a:p>
        </p:txBody>
      </p:sp>
      <p:pic>
        <p:nvPicPr>
          <p:cNvPr id="1091" name="Google Shape;109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7204"/>
            <a:ext cx="9144003" cy="2344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now remember the following pieces…</a:t>
            </a:r>
            <a:endParaRPr/>
          </a:p>
        </p:txBody>
      </p:sp>
      <p:pic>
        <p:nvPicPr>
          <p:cNvPr id="1097" name="Google Shape;109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1500"/>
            <a:ext cx="8839204" cy="2835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4"/>
          <p:cNvSpPr txBox="1"/>
          <p:nvPr>
            <p:ph type="title"/>
          </p:nvPr>
        </p:nvSpPr>
        <p:spPr>
          <a:xfrm>
            <a:off x="311700" y="67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now proceed, </a:t>
            </a:r>
            <a:br>
              <a:rPr lang="en"/>
            </a:br>
            <a:r>
              <a:rPr lang="en"/>
              <a:t>we need to learn some more key concepts…</a:t>
            </a:r>
            <a:endParaRPr/>
          </a:p>
        </p:txBody>
      </p:sp>
      <p:pic>
        <p:nvPicPr>
          <p:cNvPr id="1103" name="Google Shape;110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625" y="22631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6625" y="22631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6050" y="2345363"/>
            <a:ext cx="870275" cy="8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7737" y="2854100"/>
            <a:ext cx="870275" cy="137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84"/>
          <p:cNvPicPr preferRelativeResize="0"/>
          <p:nvPr/>
        </p:nvPicPr>
        <p:blipFill rotWithShape="1">
          <a:blip r:embed="rId7">
            <a:alphaModFix/>
          </a:blip>
          <a:srcRect b="32834" l="15937" r="53947" t="27077"/>
          <a:stretch/>
        </p:blipFill>
        <p:spPr>
          <a:xfrm>
            <a:off x="5490150" y="2939275"/>
            <a:ext cx="1185974" cy="10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for us is to have a </a:t>
            </a:r>
            <a:br>
              <a:rPr lang="en"/>
            </a:br>
            <a:r>
              <a:rPr lang="en"/>
              <a:t>Interview Framework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